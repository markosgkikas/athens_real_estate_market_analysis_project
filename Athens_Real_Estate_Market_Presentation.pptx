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3" r:id="rId4"/>
    <p:sldId id="274" r:id="rId5"/>
    <p:sldId id="275" r:id="rId6"/>
    <p:sldId id="276" r:id="rId7"/>
    <p:sldId id="277" r:id="rId8"/>
    <p:sldId id="279" r:id="rId9"/>
    <p:sldId id="280" r:id="rId10"/>
    <p:sldId id="281" r:id="rId11"/>
    <p:sldId id="283" r:id="rId12"/>
    <p:sldId id="259" r:id="rId13"/>
    <p:sldId id="284" r:id="rId14"/>
    <p:sldId id="285" r:id="rId15"/>
    <p:sldId id="258" r:id="rId16"/>
    <p:sldId id="260" r:id="rId17"/>
    <p:sldId id="286" r:id="rId18"/>
    <p:sldId id="270" r:id="rId19"/>
  </p:sldIdLst>
  <p:sldSz cx="18288000" cy="10287000"/>
  <p:notesSz cx="6858000" cy="9144000"/>
  <p:embeddedFontLst>
    <p:embeddedFont>
      <p:font typeface="TT Norms" panose="020B0604020202020204" charset="0"/>
      <p:regular r:id="rId20"/>
    </p:embeddedFont>
    <p:embeddedFont>
      <p:font typeface="TT Norm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6F6"/>
    <a:srgbClr val="FBA600"/>
    <a:srgbClr val="FEA606"/>
    <a:srgbClr val="EAEAEA"/>
    <a:srgbClr val="F7AB12"/>
    <a:srgbClr val="F8AC04"/>
    <a:srgbClr val="FFFFFF"/>
    <a:srgbClr val="252423"/>
    <a:srgbClr val="6F6F6E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9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sv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27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3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749433" y="5775025"/>
            <a:ext cx="20461501" cy="7477748"/>
          </a:xfrm>
          <a:custGeom>
            <a:avLst/>
            <a:gdLst/>
            <a:ahLst/>
            <a:cxnLst/>
            <a:rect l="l" t="t" r="r" b="b"/>
            <a:pathLst>
              <a:path w="20461501" h="7477748">
                <a:moveTo>
                  <a:pt x="0" y="0"/>
                </a:moveTo>
                <a:lnTo>
                  <a:pt x="20461500" y="0"/>
                </a:lnTo>
                <a:lnTo>
                  <a:pt x="20461500" y="7477748"/>
                </a:lnTo>
                <a:lnTo>
                  <a:pt x="0" y="7477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1028700" y="2395880"/>
            <a:ext cx="9411854" cy="5835491"/>
          </a:xfrm>
          <a:custGeom>
            <a:avLst/>
            <a:gdLst/>
            <a:ahLst/>
            <a:cxnLst/>
            <a:rect l="l" t="t" r="r" b="b"/>
            <a:pathLst>
              <a:path w="9411854" h="5835491">
                <a:moveTo>
                  <a:pt x="0" y="0"/>
                </a:moveTo>
                <a:lnTo>
                  <a:pt x="9411854" y="0"/>
                </a:lnTo>
                <a:lnTo>
                  <a:pt x="9411854" y="5835492"/>
                </a:lnTo>
                <a:lnTo>
                  <a:pt x="0" y="58354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10972800" y="8301712"/>
            <a:ext cx="5520243" cy="562061"/>
          </a:xfrm>
          <a:custGeom>
            <a:avLst/>
            <a:gdLst/>
            <a:ahLst/>
            <a:cxnLst/>
            <a:rect l="l" t="t" r="r" b="b"/>
            <a:pathLst>
              <a:path w="5520243" h="562061">
                <a:moveTo>
                  <a:pt x="0" y="0"/>
                </a:moveTo>
                <a:lnTo>
                  <a:pt x="5520243" y="0"/>
                </a:lnTo>
                <a:lnTo>
                  <a:pt x="5520243" y="562061"/>
                </a:lnTo>
                <a:lnTo>
                  <a:pt x="0" y="5620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282573" y="1538449"/>
            <a:ext cx="4705927" cy="2626763"/>
          </a:xfrm>
          <a:custGeom>
            <a:avLst/>
            <a:gdLst/>
            <a:ahLst/>
            <a:cxnLst/>
            <a:rect l="l" t="t" r="r" b="b"/>
            <a:pathLst>
              <a:path w="4705927" h="2626763">
                <a:moveTo>
                  <a:pt x="0" y="0"/>
                </a:moveTo>
                <a:lnTo>
                  <a:pt x="4705927" y="0"/>
                </a:lnTo>
                <a:lnTo>
                  <a:pt x="4705927" y="2626763"/>
                </a:lnTo>
                <a:lnTo>
                  <a:pt x="0" y="26267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1743349" y="8478597"/>
            <a:ext cx="3649051" cy="254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5"/>
              </a:lnSpc>
            </a:pPr>
            <a:r>
              <a:rPr lang="en-US" sz="1866" b="1" dirty="0">
                <a:solidFill>
                  <a:srgbClr val="1F5353"/>
                </a:solidFill>
                <a:latin typeface="TT Norms Bold"/>
                <a:ea typeface="TT Norms Bold"/>
                <a:cs typeface="TT Norms Bold"/>
                <a:sym typeface="TT Norms Bold"/>
              </a:rPr>
              <a:t>www.github.com/markosgkikas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72800" y="1257300"/>
            <a:ext cx="5778547" cy="7018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1143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Athens</a:t>
            </a:r>
          </a:p>
          <a:p>
            <a:pPr algn="l">
              <a:lnSpc>
                <a:spcPts val="10800"/>
              </a:lnSpc>
            </a:pPr>
            <a:r>
              <a:rPr lang="en-US" sz="1143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Real</a:t>
            </a:r>
          </a:p>
          <a:p>
            <a:pPr algn="l">
              <a:lnSpc>
                <a:spcPts val="10800"/>
              </a:lnSpc>
            </a:pPr>
            <a:r>
              <a:rPr lang="en-US" sz="1143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Estate </a:t>
            </a:r>
          </a:p>
          <a:p>
            <a:pPr algn="l">
              <a:lnSpc>
                <a:spcPts val="10800"/>
              </a:lnSpc>
            </a:pPr>
            <a:r>
              <a:rPr lang="en-US" sz="1143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Market</a:t>
            </a:r>
          </a:p>
          <a:p>
            <a:pPr algn="l">
              <a:lnSpc>
                <a:spcPts val="10800"/>
              </a:lnSpc>
            </a:pPr>
            <a:r>
              <a:rPr lang="en-US" sz="11436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Analysis</a:t>
            </a:r>
          </a:p>
        </p:txBody>
      </p:sp>
      <p:sp>
        <p:nvSpPr>
          <p:cNvPr id="16" name="Freeform 16"/>
          <p:cNvSpPr/>
          <p:nvPr/>
        </p:nvSpPr>
        <p:spPr>
          <a:xfrm>
            <a:off x="5880114" y="4659483"/>
            <a:ext cx="4705927" cy="2626763"/>
          </a:xfrm>
          <a:custGeom>
            <a:avLst/>
            <a:gdLst/>
            <a:ahLst/>
            <a:cxnLst/>
            <a:rect l="l" t="t" r="r" b="b"/>
            <a:pathLst>
              <a:path w="4705927" h="2626763">
                <a:moveTo>
                  <a:pt x="0" y="0"/>
                </a:moveTo>
                <a:lnTo>
                  <a:pt x="4705927" y="0"/>
                </a:lnTo>
                <a:lnTo>
                  <a:pt x="4705927" y="2626763"/>
                </a:lnTo>
                <a:lnTo>
                  <a:pt x="0" y="26267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6A44ADE-0E5B-836B-994D-F558D9B8B7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5444422"/>
            <a:ext cx="393192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818269" y="2146160"/>
            <a:ext cx="4382515" cy="115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10"/>
              </a:lnSpc>
            </a:pPr>
            <a:r>
              <a:rPr lang="en-US" sz="8524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Project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18269" y="3144430"/>
            <a:ext cx="5049267" cy="115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10"/>
              </a:lnSpc>
            </a:pPr>
            <a:r>
              <a:rPr lang="en-US" sz="8524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Summary</a:t>
            </a:r>
          </a:p>
        </p:txBody>
      </p:sp>
      <p:sp>
        <p:nvSpPr>
          <p:cNvPr id="8" name="Freeform 8"/>
          <p:cNvSpPr/>
          <p:nvPr/>
        </p:nvSpPr>
        <p:spPr>
          <a:xfrm>
            <a:off x="7348233" y="1803543"/>
            <a:ext cx="8916074" cy="6792427"/>
          </a:xfrm>
          <a:custGeom>
            <a:avLst/>
            <a:gdLst/>
            <a:ahLst/>
            <a:cxnLst/>
            <a:rect l="l" t="t" r="r" b="b"/>
            <a:pathLst>
              <a:path w="8916074" h="6792427">
                <a:moveTo>
                  <a:pt x="0" y="0"/>
                </a:moveTo>
                <a:lnTo>
                  <a:pt x="8916074" y="0"/>
                </a:lnTo>
                <a:lnTo>
                  <a:pt x="8916074" y="6792427"/>
                </a:lnTo>
                <a:lnTo>
                  <a:pt x="0" y="67924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TextBox 16"/>
          <p:cNvSpPr txBox="1"/>
          <p:nvPr/>
        </p:nvSpPr>
        <p:spPr>
          <a:xfrm>
            <a:off x="8082435" y="3301220"/>
            <a:ext cx="7447670" cy="48013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This end-to-end data project provides a comprehensive evaluation of the central Athens residential real estate market as of April 2026.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By synthesizing over 10,000 scraped property listings, the platform tracks how traditional metrics, modern renovation velocity, and energy performance certifications intersect to drive real estate value.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400" dirty="0">
                <a:solidFill>
                  <a:schemeClr val="bg1"/>
                </a:solidFill>
              </a:rPr>
              <a:t>The final interactive platform leverages advanced feature modeling and custom metrics to map premium spatial trends and automatically surface high-potential, underpriced investment assets.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DA91099-7238-E734-47F6-8C01BDFBC284}"/>
              </a:ext>
            </a:extLst>
          </p:cNvPr>
          <p:cNvSpPr/>
          <p:nvPr/>
        </p:nvSpPr>
        <p:spPr>
          <a:xfrm>
            <a:off x="1295400" y="5006986"/>
            <a:ext cx="4492152" cy="3095548"/>
          </a:xfrm>
          <a:custGeom>
            <a:avLst/>
            <a:gdLst/>
            <a:ahLst/>
            <a:cxnLst/>
            <a:rect l="l" t="t" r="r" b="b"/>
            <a:pathLst>
              <a:path w="5848383" h="4030129">
                <a:moveTo>
                  <a:pt x="0" y="0"/>
                </a:moveTo>
                <a:lnTo>
                  <a:pt x="5848383" y="0"/>
                </a:lnTo>
                <a:lnTo>
                  <a:pt x="5848383" y="4030129"/>
                </a:lnTo>
                <a:lnTo>
                  <a:pt x="0" y="40301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4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8" grpId="0" animBg="1"/>
      <p:bldP spid="8" grpId="1" animBg="1"/>
      <p:bldP spid="16" grpId="0"/>
      <p:bldP spid="16" grpId="1"/>
      <p:bldP spid="12" grpId="0" animBg="1"/>
      <p:bldP spid="1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9A8F0A-84E1-B784-90AF-6676ADE97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FC37E6A-EA02-1C80-D612-6A9708091D1A}"/>
              </a:ext>
            </a:extLst>
          </p:cNvPr>
          <p:cNvSpPr/>
          <p:nvPr/>
        </p:nvSpPr>
        <p:spPr>
          <a:xfrm>
            <a:off x="1818269" y="846268"/>
            <a:ext cx="516732" cy="381898"/>
          </a:xfrm>
          <a:custGeom>
            <a:avLst/>
            <a:gdLst/>
            <a:ahLst/>
            <a:cxnLst/>
            <a:rect l="l" t="t" r="r" b="b"/>
            <a:pathLst>
              <a:path w="516732" h="381898">
                <a:moveTo>
                  <a:pt x="0" y="0"/>
                </a:moveTo>
                <a:lnTo>
                  <a:pt x="516733" y="0"/>
                </a:lnTo>
                <a:lnTo>
                  <a:pt x="516733" y="381898"/>
                </a:lnTo>
                <a:lnTo>
                  <a:pt x="0" y="381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39D3291-3AD6-9E6A-C617-A1205520EBD6}"/>
              </a:ext>
            </a:extLst>
          </p:cNvPr>
          <p:cNvSpPr/>
          <p:nvPr/>
        </p:nvSpPr>
        <p:spPr>
          <a:xfrm>
            <a:off x="14355033" y="858669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AF44091-F5CB-9466-DCD4-67A4064451C4}"/>
              </a:ext>
            </a:extLst>
          </p:cNvPr>
          <p:cNvSpPr txBox="1"/>
          <p:nvPr/>
        </p:nvSpPr>
        <p:spPr>
          <a:xfrm>
            <a:off x="2537532" y="934721"/>
            <a:ext cx="1863364" cy="2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Market Overview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D836E1B-3DB9-3F85-BD95-2EBA4529C12A}"/>
              </a:ext>
            </a:extLst>
          </p:cNvPr>
          <p:cNvSpPr txBox="1"/>
          <p:nvPr/>
        </p:nvSpPr>
        <p:spPr>
          <a:xfrm>
            <a:off x="15935932" y="924554"/>
            <a:ext cx="1522880" cy="25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Page</a:t>
            </a:r>
            <a:r>
              <a:rPr lang="en-US" sz="186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001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3B66A0D9-7044-3D81-F621-4A9840E62655}"/>
              </a:ext>
            </a:extLst>
          </p:cNvPr>
          <p:cNvSpPr txBox="1"/>
          <p:nvPr/>
        </p:nvSpPr>
        <p:spPr>
          <a:xfrm>
            <a:off x="4603428" y="934721"/>
            <a:ext cx="2406972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Neighborhood Deep Dive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AC550AD5-E710-2B74-9530-DED80355C4CC}"/>
              </a:ext>
            </a:extLst>
          </p:cNvPr>
          <p:cNvSpPr txBox="1"/>
          <p:nvPr/>
        </p:nvSpPr>
        <p:spPr>
          <a:xfrm>
            <a:off x="7346628" y="934721"/>
            <a:ext cx="13359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Energy Trends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7D6A0DD0-1ED6-73F6-A1C3-AC2E29A266E2}"/>
              </a:ext>
            </a:extLst>
          </p:cNvPr>
          <p:cNvSpPr txBox="1"/>
          <p:nvPr/>
        </p:nvSpPr>
        <p:spPr>
          <a:xfrm>
            <a:off x="9018812" y="934721"/>
            <a:ext cx="15973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Premium Listings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D6DE11-CAE4-69A5-FBF7-2A2E9E769C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622" y="1666913"/>
            <a:ext cx="7449590" cy="50299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2BA40B6-78F0-3943-14D0-0D777747FF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675" y="6771864"/>
            <a:ext cx="7430537" cy="294363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72A0AE5-FB04-80AB-8488-9B27AEBEB3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675" y="6781391"/>
            <a:ext cx="7430537" cy="2934109"/>
          </a:xfrm>
          <a:prstGeom prst="rect">
            <a:avLst/>
          </a:prstGeom>
        </p:spPr>
      </p:pic>
      <p:sp>
        <p:nvSpPr>
          <p:cNvPr id="4" name="Freeform 19">
            <a:extLst>
              <a:ext uri="{FF2B5EF4-FFF2-40B4-BE49-F238E27FC236}">
                <a16:creationId xmlns:a16="http://schemas.microsoft.com/office/drawing/2014/main" id="{448992F2-03F5-7217-961E-919264BB5B97}"/>
              </a:ext>
            </a:extLst>
          </p:cNvPr>
          <p:cNvSpPr/>
          <p:nvPr/>
        </p:nvSpPr>
        <p:spPr>
          <a:xfrm>
            <a:off x="9476422" y="1657714"/>
            <a:ext cx="6805559" cy="5029902"/>
          </a:xfrm>
          <a:custGeom>
            <a:avLst/>
            <a:gdLst/>
            <a:ahLst/>
            <a:cxnLst/>
            <a:rect l="l" t="t" r="r" b="b"/>
            <a:pathLst>
              <a:path w="1043190" h="774835">
                <a:moveTo>
                  <a:pt x="41047" y="0"/>
                </a:moveTo>
                <a:lnTo>
                  <a:pt x="1002143" y="0"/>
                </a:lnTo>
                <a:cubicBezTo>
                  <a:pt x="1013029" y="0"/>
                  <a:pt x="1023470" y="4325"/>
                  <a:pt x="1031167" y="12022"/>
                </a:cubicBezTo>
                <a:cubicBezTo>
                  <a:pt x="1038865" y="19720"/>
                  <a:pt x="1043190" y="30160"/>
                  <a:pt x="1043190" y="41047"/>
                </a:cubicBezTo>
                <a:lnTo>
                  <a:pt x="1043190" y="733789"/>
                </a:lnTo>
                <a:cubicBezTo>
                  <a:pt x="1043190" y="756458"/>
                  <a:pt x="1024812" y="774835"/>
                  <a:pt x="1002143" y="774835"/>
                </a:cubicBezTo>
                <a:lnTo>
                  <a:pt x="41047" y="774835"/>
                </a:lnTo>
                <a:cubicBezTo>
                  <a:pt x="30160" y="774835"/>
                  <a:pt x="19720" y="770511"/>
                  <a:pt x="12022" y="762813"/>
                </a:cubicBezTo>
                <a:cubicBezTo>
                  <a:pt x="4325" y="755115"/>
                  <a:pt x="0" y="744675"/>
                  <a:pt x="0" y="733789"/>
                </a:cubicBezTo>
                <a:lnTo>
                  <a:pt x="0" y="41047"/>
                </a:lnTo>
                <a:cubicBezTo>
                  <a:pt x="0" y="30160"/>
                  <a:pt x="4325" y="19720"/>
                  <a:pt x="12022" y="12022"/>
                </a:cubicBezTo>
                <a:cubicBezTo>
                  <a:pt x="19720" y="4325"/>
                  <a:pt x="30160" y="0"/>
                  <a:pt x="41047" y="0"/>
                </a:cubicBezTo>
                <a:close/>
              </a:path>
            </a:pathLst>
          </a:custGeom>
          <a:ln w="28575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6CB0C3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6CEE5A-6969-E1A0-A84F-AFA0E7523B0A}"/>
              </a:ext>
            </a:extLst>
          </p:cNvPr>
          <p:cNvSpPr txBox="1"/>
          <p:nvPr/>
        </p:nvSpPr>
        <p:spPr>
          <a:xfrm>
            <a:off x="9680507" y="1866900"/>
            <a:ext cx="624840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Unrenovated Dominance:</a:t>
            </a:r>
            <a:endParaRPr lang="el-GR" sz="2000" b="1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bg1"/>
                </a:solidFill>
              </a:rPr>
              <a:t>Across the entire dataset, older or unrenovated properties make up the vast majority (</a:t>
            </a:r>
            <a:r>
              <a:rPr lang="en-GB" sz="2000" b="1" dirty="0">
                <a:solidFill>
                  <a:schemeClr val="bg1"/>
                </a:solidFill>
              </a:rPr>
              <a:t>67.14%</a:t>
            </a:r>
            <a:r>
              <a:rPr lang="en-GB" sz="2000" dirty="0">
                <a:solidFill>
                  <a:schemeClr val="bg1"/>
                </a:solidFill>
              </a:rPr>
              <a:t>) of the market share compared to just </a:t>
            </a:r>
            <a:r>
              <a:rPr lang="en-GB" sz="2000" b="1" dirty="0">
                <a:solidFill>
                  <a:schemeClr val="bg1"/>
                </a:solidFill>
              </a:rPr>
              <a:t>32.86%</a:t>
            </a:r>
            <a:r>
              <a:rPr lang="en-GB" sz="2000" dirty="0">
                <a:solidFill>
                  <a:schemeClr val="bg1"/>
                </a:solidFill>
              </a:rPr>
              <a:t> for renovated ones.</a:t>
            </a:r>
            <a:endParaRPr lang="el-GR" sz="2000" dirty="0">
              <a:solidFill>
                <a:schemeClr val="bg1"/>
              </a:solidFill>
            </a:endParaRPr>
          </a:p>
          <a:p>
            <a:endParaRPr lang="en-GB" sz="2800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</a:rPr>
              <a:t>Renovation Hubs:</a:t>
            </a:r>
            <a:endParaRPr lang="el-GR" sz="2000" b="1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bg1"/>
                </a:solidFill>
              </a:rPr>
              <a:t>While </a:t>
            </a:r>
            <a:r>
              <a:rPr lang="en-GB" sz="2000" b="1" dirty="0">
                <a:solidFill>
                  <a:schemeClr val="bg1"/>
                </a:solidFill>
              </a:rPr>
              <a:t>Patisia</a:t>
            </a:r>
            <a:r>
              <a:rPr lang="en-GB" sz="2000" dirty="0">
                <a:solidFill>
                  <a:schemeClr val="bg1"/>
                </a:solidFill>
              </a:rPr>
              <a:t> has the most total listings, </a:t>
            </a:r>
            <a:r>
              <a:rPr lang="en-GB" sz="2000" b="1" dirty="0" err="1">
                <a:solidFill>
                  <a:schemeClr val="bg1"/>
                </a:solidFill>
              </a:rPr>
              <a:t>Pangrati</a:t>
            </a:r>
            <a:r>
              <a:rPr lang="en-GB" sz="2000" b="1" dirty="0">
                <a:solidFill>
                  <a:schemeClr val="bg1"/>
                </a:solidFill>
              </a:rPr>
              <a:t> - Mets</a:t>
            </a:r>
            <a:r>
              <a:rPr lang="en-GB" sz="2000" dirty="0">
                <a:solidFill>
                  <a:schemeClr val="bg1"/>
                </a:solidFill>
              </a:rPr>
              <a:t> (357) and </a:t>
            </a:r>
            <a:r>
              <a:rPr lang="en-GB" sz="2000" b="1" dirty="0" err="1">
                <a:solidFill>
                  <a:schemeClr val="bg1"/>
                </a:solidFill>
              </a:rPr>
              <a:t>Kypseli</a:t>
            </a:r>
            <a:r>
              <a:rPr lang="en-GB" sz="2000" dirty="0">
                <a:solidFill>
                  <a:schemeClr val="bg1"/>
                </a:solidFill>
              </a:rPr>
              <a:t> (346) lead the market in the absolute volume of renovated properties.</a:t>
            </a:r>
            <a:endParaRPr lang="el-GR" sz="2000" dirty="0">
              <a:solidFill>
                <a:schemeClr val="bg1"/>
              </a:solidFill>
            </a:endParaRPr>
          </a:p>
          <a:p>
            <a:endParaRPr lang="en-GB" sz="2800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</a:rPr>
              <a:t>Highest Renovation Rates:</a:t>
            </a:r>
            <a:endParaRPr lang="el-GR" sz="2000" b="1" dirty="0">
              <a:solidFill>
                <a:schemeClr val="bg1"/>
              </a:solidFill>
            </a:endParaRPr>
          </a:p>
          <a:p>
            <a:r>
              <a:rPr lang="en-GB" sz="2000" b="1" dirty="0" err="1">
                <a:solidFill>
                  <a:schemeClr val="bg1"/>
                </a:solidFill>
              </a:rPr>
              <a:t>Kerameikos</a:t>
            </a:r>
            <a:r>
              <a:rPr lang="en-GB" sz="2000" b="1" dirty="0">
                <a:solidFill>
                  <a:schemeClr val="bg1"/>
                </a:solidFill>
              </a:rPr>
              <a:t> - </a:t>
            </a:r>
            <a:r>
              <a:rPr lang="en-GB" sz="2000" b="1" dirty="0" err="1">
                <a:solidFill>
                  <a:schemeClr val="bg1"/>
                </a:solidFill>
              </a:rPr>
              <a:t>Omonoia</a:t>
            </a:r>
            <a:r>
              <a:rPr lang="en-GB" sz="2000" dirty="0">
                <a:solidFill>
                  <a:schemeClr val="bg1"/>
                </a:solidFill>
              </a:rPr>
              <a:t> and </a:t>
            </a:r>
            <a:r>
              <a:rPr lang="en-GB" sz="2000" b="1" dirty="0" err="1">
                <a:solidFill>
                  <a:schemeClr val="bg1"/>
                </a:solidFill>
              </a:rPr>
              <a:t>Kolonaki</a:t>
            </a:r>
            <a:r>
              <a:rPr lang="en-GB" sz="2000" b="1" dirty="0">
                <a:solidFill>
                  <a:schemeClr val="bg1"/>
                </a:solidFill>
              </a:rPr>
              <a:t> - </a:t>
            </a:r>
            <a:r>
              <a:rPr lang="en-GB" sz="2000" b="1" dirty="0" err="1">
                <a:solidFill>
                  <a:schemeClr val="bg1"/>
                </a:solidFill>
              </a:rPr>
              <a:t>Lykavittos</a:t>
            </a:r>
            <a:r>
              <a:rPr lang="en-GB" sz="2000" dirty="0">
                <a:solidFill>
                  <a:schemeClr val="bg1"/>
                </a:solidFill>
              </a:rPr>
              <a:t> show the highest concentration of modern updates, with roughly </a:t>
            </a:r>
            <a:r>
              <a:rPr lang="en-GB" sz="2000" b="1" dirty="0">
                <a:solidFill>
                  <a:schemeClr val="bg1"/>
                </a:solidFill>
              </a:rPr>
              <a:t>41% to 42%</a:t>
            </a:r>
            <a:r>
              <a:rPr lang="en-GB" sz="2000" dirty="0">
                <a:solidFill>
                  <a:schemeClr val="bg1"/>
                </a:solidFill>
              </a:rPr>
              <a:t> of their total listings being renovated.</a:t>
            </a:r>
          </a:p>
        </p:txBody>
      </p:sp>
      <p:sp>
        <p:nvSpPr>
          <p:cNvPr id="8" name="Freeform 19">
            <a:extLst>
              <a:ext uri="{FF2B5EF4-FFF2-40B4-BE49-F238E27FC236}">
                <a16:creationId xmlns:a16="http://schemas.microsoft.com/office/drawing/2014/main" id="{5B4578BE-8C3E-7A04-EDAC-CE0024C7B9DF}"/>
              </a:ext>
            </a:extLst>
          </p:cNvPr>
          <p:cNvSpPr/>
          <p:nvPr/>
        </p:nvSpPr>
        <p:spPr>
          <a:xfrm>
            <a:off x="9476421" y="6790917"/>
            <a:ext cx="6805559" cy="2924583"/>
          </a:xfrm>
          <a:custGeom>
            <a:avLst/>
            <a:gdLst/>
            <a:ahLst/>
            <a:cxnLst/>
            <a:rect l="l" t="t" r="r" b="b"/>
            <a:pathLst>
              <a:path w="1043190" h="774835">
                <a:moveTo>
                  <a:pt x="41047" y="0"/>
                </a:moveTo>
                <a:lnTo>
                  <a:pt x="1002143" y="0"/>
                </a:lnTo>
                <a:cubicBezTo>
                  <a:pt x="1013029" y="0"/>
                  <a:pt x="1023470" y="4325"/>
                  <a:pt x="1031167" y="12022"/>
                </a:cubicBezTo>
                <a:cubicBezTo>
                  <a:pt x="1038865" y="19720"/>
                  <a:pt x="1043190" y="30160"/>
                  <a:pt x="1043190" y="41047"/>
                </a:cubicBezTo>
                <a:lnTo>
                  <a:pt x="1043190" y="733789"/>
                </a:lnTo>
                <a:cubicBezTo>
                  <a:pt x="1043190" y="756458"/>
                  <a:pt x="1024812" y="774835"/>
                  <a:pt x="1002143" y="774835"/>
                </a:cubicBezTo>
                <a:lnTo>
                  <a:pt x="41047" y="774835"/>
                </a:lnTo>
                <a:cubicBezTo>
                  <a:pt x="30160" y="774835"/>
                  <a:pt x="19720" y="770511"/>
                  <a:pt x="12022" y="762813"/>
                </a:cubicBezTo>
                <a:cubicBezTo>
                  <a:pt x="4325" y="755115"/>
                  <a:pt x="0" y="744675"/>
                  <a:pt x="0" y="733789"/>
                </a:cubicBezTo>
                <a:lnTo>
                  <a:pt x="0" y="41047"/>
                </a:lnTo>
                <a:cubicBezTo>
                  <a:pt x="0" y="30160"/>
                  <a:pt x="4325" y="19720"/>
                  <a:pt x="12022" y="12022"/>
                </a:cubicBezTo>
                <a:cubicBezTo>
                  <a:pt x="19720" y="4325"/>
                  <a:pt x="30160" y="0"/>
                  <a:pt x="41047" y="0"/>
                </a:cubicBezTo>
                <a:close/>
              </a:path>
            </a:pathLst>
          </a:custGeom>
          <a:ln w="28575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6CB0C3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CD6EB5-048E-7D41-29DD-6047B0266DB2}"/>
              </a:ext>
            </a:extLst>
          </p:cNvPr>
          <p:cNvSpPr txBox="1"/>
          <p:nvPr/>
        </p:nvSpPr>
        <p:spPr>
          <a:xfrm>
            <a:off x="9680507" y="6896100"/>
            <a:ext cx="62554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The High-End Premium:</a:t>
            </a:r>
          </a:p>
          <a:p>
            <a:r>
              <a:rPr lang="en-GB" sz="2000" b="1" dirty="0" err="1">
                <a:solidFill>
                  <a:schemeClr val="bg1"/>
                </a:solidFill>
              </a:rPr>
              <a:t>Kolonaki</a:t>
            </a:r>
            <a:r>
              <a:rPr lang="en-GB" sz="2000" b="1" dirty="0">
                <a:solidFill>
                  <a:schemeClr val="bg1"/>
                </a:solidFill>
              </a:rPr>
              <a:t> - </a:t>
            </a:r>
            <a:r>
              <a:rPr lang="en-GB" sz="2000" b="1" dirty="0" err="1">
                <a:solidFill>
                  <a:schemeClr val="bg1"/>
                </a:solidFill>
              </a:rPr>
              <a:t>Lykavittos</a:t>
            </a:r>
            <a:r>
              <a:rPr lang="en-GB" sz="2000" dirty="0">
                <a:solidFill>
                  <a:schemeClr val="bg1"/>
                </a:solidFill>
              </a:rPr>
              <a:t> leads the market at nearly 5.7K per square meter. It is followed by the </a:t>
            </a:r>
            <a:r>
              <a:rPr lang="en-GB" sz="2000" b="1" dirty="0">
                <a:solidFill>
                  <a:schemeClr val="bg1"/>
                </a:solidFill>
              </a:rPr>
              <a:t>Historic </a:t>
            </a:r>
            <a:r>
              <a:rPr lang="en-GB" sz="2000" b="1" dirty="0" err="1">
                <a:solidFill>
                  <a:schemeClr val="bg1"/>
                </a:solidFill>
              </a:rPr>
              <a:t>Center</a:t>
            </a:r>
            <a:r>
              <a:rPr lang="en-GB" sz="2000" dirty="0">
                <a:solidFill>
                  <a:schemeClr val="bg1"/>
                </a:solidFill>
              </a:rPr>
              <a:t> and </a:t>
            </a:r>
            <a:r>
              <a:rPr lang="en-GB" sz="2000" b="1" dirty="0" err="1">
                <a:solidFill>
                  <a:schemeClr val="bg1"/>
                </a:solidFill>
              </a:rPr>
              <a:t>Koukaki</a:t>
            </a:r>
            <a:r>
              <a:rPr lang="en-GB" sz="2000" dirty="0">
                <a:solidFill>
                  <a:schemeClr val="bg1"/>
                </a:solidFill>
              </a:rPr>
              <a:t>, establishing a clear premium tier.</a:t>
            </a:r>
          </a:p>
          <a:p>
            <a:endParaRPr lang="en-GB" sz="800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</a:rPr>
              <a:t>The Affordable Baseline:</a:t>
            </a:r>
          </a:p>
          <a:p>
            <a:r>
              <a:rPr lang="en-GB" sz="2000" dirty="0" err="1">
                <a:solidFill>
                  <a:schemeClr val="bg1"/>
                </a:solidFill>
              </a:rPr>
              <a:t>Neighborhoods</a:t>
            </a:r>
            <a:r>
              <a:rPr lang="en-GB" sz="2000" dirty="0">
                <a:solidFill>
                  <a:schemeClr val="bg1"/>
                </a:solidFill>
              </a:rPr>
              <a:t> like </a:t>
            </a:r>
            <a:r>
              <a:rPr lang="en-GB" sz="2000" b="1" dirty="0">
                <a:solidFill>
                  <a:schemeClr val="bg1"/>
                </a:solidFill>
              </a:rPr>
              <a:t>Patisia, </a:t>
            </a:r>
            <a:r>
              <a:rPr lang="en-GB" sz="2000" b="1" dirty="0" err="1">
                <a:solidFill>
                  <a:schemeClr val="bg1"/>
                </a:solidFill>
              </a:rPr>
              <a:t>Sepolia</a:t>
            </a:r>
            <a:r>
              <a:rPr lang="en-GB" sz="2000" dirty="0">
                <a:solidFill>
                  <a:schemeClr val="bg1"/>
                </a:solidFill>
              </a:rPr>
              <a:t>, and </a:t>
            </a:r>
            <a:r>
              <a:rPr lang="en-GB" sz="2000" b="1" dirty="0">
                <a:solidFill>
                  <a:schemeClr val="bg1"/>
                </a:solidFill>
              </a:rPr>
              <a:t>Victoria</a:t>
            </a:r>
            <a:r>
              <a:rPr lang="en-GB" sz="2000" dirty="0">
                <a:solidFill>
                  <a:schemeClr val="bg1"/>
                </a:solidFill>
              </a:rPr>
              <a:t> represent the most budget-friendly cluster, with prices dipping well below the 2K mark.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48035394-17F5-86D5-653B-553C4CEB3C8A}"/>
              </a:ext>
            </a:extLst>
          </p:cNvPr>
          <p:cNvSpPr txBox="1"/>
          <p:nvPr/>
        </p:nvSpPr>
        <p:spPr>
          <a:xfrm>
            <a:off x="10952396" y="934721"/>
            <a:ext cx="261120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Smart Investor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39F0F1-D847-BD98-B234-DC7DC3268F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603" y="7086233"/>
            <a:ext cx="6839905" cy="26292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A2EE4F-0BB8-F7D8-BC8E-45E4FBBA29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603" y="1666913"/>
            <a:ext cx="6830378" cy="263879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930168B-7B63-8672-6DE4-E1FA819B2D3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603" y="4376573"/>
            <a:ext cx="6849431" cy="263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403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xit" presetSubtype="2" accel="8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" presetClass="exit" presetSubtype="2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" presetClass="exit" presetSubtype="2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" presetClass="exit" presetSubtype="8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8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8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4" grpId="1" animBg="1"/>
      <p:bldP spid="6" grpId="0"/>
      <p:bldP spid="6" grpId="1"/>
      <p:bldP spid="8" grpId="0" animBg="1"/>
      <p:bldP spid="8" grpId="1" animBg="1"/>
      <p:bldP spid="16" grpId="0"/>
      <p:bldP spid="16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FDCF1C-8C23-ACD8-3D6F-5CAC3EFB2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2D4EFCB-67F8-7454-6DB2-A6738B82683E}"/>
              </a:ext>
            </a:extLst>
          </p:cNvPr>
          <p:cNvSpPr/>
          <p:nvPr/>
        </p:nvSpPr>
        <p:spPr>
          <a:xfrm>
            <a:off x="1818269" y="846268"/>
            <a:ext cx="516732" cy="381898"/>
          </a:xfrm>
          <a:custGeom>
            <a:avLst/>
            <a:gdLst/>
            <a:ahLst/>
            <a:cxnLst/>
            <a:rect l="l" t="t" r="r" b="b"/>
            <a:pathLst>
              <a:path w="516732" h="381898">
                <a:moveTo>
                  <a:pt x="0" y="0"/>
                </a:moveTo>
                <a:lnTo>
                  <a:pt x="516733" y="0"/>
                </a:lnTo>
                <a:lnTo>
                  <a:pt x="516733" y="381898"/>
                </a:lnTo>
                <a:lnTo>
                  <a:pt x="0" y="381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C1D9F99-9595-4919-AE2D-D18EEB6C1743}"/>
              </a:ext>
            </a:extLst>
          </p:cNvPr>
          <p:cNvSpPr/>
          <p:nvPr/>
        </p:nvSpPr>
        <p:spPr>
          <a:xfrm>
            <a:off x="14355033" y="858669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67BDDC9-0DAB-DD4D-7721-B7D714312D22}"/>
              </a:ext>
            </a:extLst>
          </p:cNvPr>
          <p:cNvSpPr txBox="1"/>
          <p:nvPr/>
        </p:nvSpPr>
        <p:spPr>
          <a:xfrm>
            <a:off x="2537532" y="934721"/>
            <a:ext cx="1863364" cy="2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Market Overview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116B999-E934-4F29-E129-CC14A5197265}"/>
              </a:ext>
            </a:extLst>
          </p:cNvPr>
          <p:cNvSpPr txBox="1"/>
          <p:nvPr/>
        </p:nvSpPr>
        <p:spPr>
          <a:xfrm>
            <a:off x="15935932" y="924554"/>
            <a:ext cx="1522880" cy="25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Page</a:t>
            </a:r>
            <a:r>
              <a:rPr lang="en-US" sz="186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001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2430A7A5-E4AC-12A0-0266-DF153F85504C}"/>
              </a:ext>
            </a:extLst>
          </p:cNvPr>
          <p:cNvSpPr txBox="1"/>
          <p:nvPr/>
        </p:nvSpPr>
        <p:spPr>
          <a:xfrm>
            <a:off x="4603428" y="934721"/>
            <a:ext cx="2406972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Neighborhood Deep Dive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02A2E6D0-1CC3-6350-67A1-531F810E3E8E}"/>
              </a:ext>
            </a:extLst>
          </p:cNvPr>
          <p:cNvSpPr txBox="1"/>
          <p:nvPr/>
        </p:nvSpPr>
        <p:spPr>
          <a:xfrm>
            <a:off x="7346628" y="934721"/>
            <a:ext cx="13359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Energy Trends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206E052B-3AB7-6047-E37B-2D3530574ADF}"/>
              </a:ext>
            </a:extLst>
          </p:cNvPr>
          <p:cNvSpPr txBox="1"/>
          <p:nvPr/>
        </p:nvSpPr>
        <p:spPr>
          <a:xfrm>
            <a:off x="9018812" y="934721"/>
            <a:ext cx="15973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Premium Listings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571F4A-4747-C276-9244-7AC53D31F5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322" y="1666913"/>
            <a:ext cx="7430537" cy="50203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3BA723-B5E8-C40F-C345-A1FDBED3D2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1603" y="1676439"/>
            <a:ext cx="6830378" cy="2629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81DDC0-FCEC-61C5-F120-38ED45AF56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3321" y="6781391"/>
            <a:ext cx="7430537" cy="2934109"/>
          </a:xfrm>
          <a:prstGeom prst="rect">
            <a:avLst/>
          </a:prstGeom>
        </p:spPr>
      </p:pic>
      <p:sp>
        <p:nvSpPr>
          <p:cNvPr id="13" name="Freeform 19">
            <a:extLst>
              <a:ext uri="{FF2B5EF4-FFF2-40B4-BE49-F238E27FC236}">
                <a16:creationId xmlns:a16="http://schemas.microsoft.com/office/drawing/2014/main" id="{7EC99804-E7E7-F2E9-1EA6-1F95BFD8CC63}"/>
              </a:ext>
            </a:extLst>
          </p:cNvPr>
          <p:cNvSpPr/>
          <p:nvPr/>
        </p:nvSpPr>
        <p:spPr>
          <a:xfrm>
            <a:off x="9476424" y="4405519"/>
            <a:ext cx="6805558" cy="5309981"/>
          </a:xfrm>
          <a:custGeom>
            <a:avLst/>
            <a:gdLst/>
            <a:ahLst/>
            <a:cxnLst/>
            <a:rect l="l" t="t" r="r" b="b"/>
            <a:pathLst>
              <a:path w="1043190" h="774835">
                <a:moveTo>
                  <a:pt x="41047" y="0"/>
                </a:moveTo>
                <a:lnTo>
                  <a:pt x="1002143" y="0"/>
                </a:lnTo>
                <a:cubicBezTo>
                  <a:pt x="1013029" y="0"/>
                  <a:pt x="1023470" y="4325"/>
                  <a:pt x="1031167" y="12022"/>
                </a:cubicBezTo>
                <a:cubicBezTo>
                  <a:pt x="1038865" y="19720"/>
                  <a:pt x="1043190" y="30160"/>
                  <a:pt x="1043190" y="41047"/>
                </a:cubicBezTo>
                <a:lnTo>
                  <a:pt x="1043190" y="733789"/>
                </a:lnTo>
                <a:cubicBezTo>
                  <a:pt x="1043190" y="756458"/>
                  <a:pt x="1024812" y="774835"/>
                  <a:pt x="1002143" y="774835"/>
                </a:cubicBezTo>
                <a:lnTo>
                  <a:pt x="41047" y="774835"/>
                </a:lnTo>
                <a:cubicBezTo>
                  <a:pt x="30160" y="774835"/>
                  <a:pt x="19720" y="770511"/>
                  <a:pt x="12022" y="762813"/>
                </a:cubicBezTo>
                <a:cubicBezTo>
                  <a:pt x="4325" y="755115"/>
                  <a:pt x="0" y="744675"/>
                  <a:pt x="0" y="733789"/>
                </a:cubicBezTo>
                <a:lnTo>
                  <a:pt x="0" y="41047"/>
                </a:lnTo>
                <a:cubicBezTo>
                  <a:pt x="0" y="30160"/>
                  <a:pt x="4325" y="19720"/>
                  <a:pt x="12022" y="12022"/>
                </a:cubicBezTo>
                <a:cubicBezTo>
                  <a:pt x="19720" y="4325"/>
                  <a:pt x="30160" y="0"/>
                  <a:pt x="41047" y="0"/>
                </a:cubicBezTo>
                <a:close/>
              </a:path>
            </a:pathLst>
          </a:custGeom>
          <a:ln w="28575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6CB0C3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BF5DFC-4FD1-A50E-4318-7363B4F934B5}"/>
              </a:ext>
            </a:extLst>
          </p:cNvPr>
          <p:cNvSpPr txBox="1"/>
          <p:nvPr/>
        </p:nvSpPr>
        <p:spPr>
          <a:xfrm>
            <a:off x="9601200" y="4610100"/>
            <a:ext cx="6553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Renovation Activity Peaked in 2025:</a:t>
            </a:r>
          </a:p>
          <a:p>
            <a:r>
              <a:rPr lang="en-GB" sz="2000" dirty="0">
                <a:solidFill>
                  <a:schemeClr val="bg1"/>
                </a:solidFill>
              </a:rPr>
              <a:t>Property renovations experienced an aggressive upward trend starting in 2021, peaking at over 800 renovations in 2025 before dropping sharply in the partial data for 2026.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000" b="1" dirty="0" err="1">
                <a:solidFill>
                  <a:schemeClr val="bg1"/>
                </a:solidFill>
              </a:rPr>
              <a:t>Pangrati</a:t>
            </a:r>
            <a:r>
              <a:rPr lang="en-GB" sz="2000" b="1" dirty="0">
                <a:solidFill>
                  <a:schemeClr val="bg1"/>
                </a:solidFill>
              </a:rPr>
              <a:t>-Mets Leads in Renovated Volume:</a:t>
            </a:r>
          </a:p>
          <a:p>
            <a:r>
              <a:rPr lang="en-GB" sz="2000" dirty="0">
                <a:solidFill>
                  <a:schemeClr val="bg1"/>
                </a:solidFill>
              </a:rPr>
              <a:t>While Patisia has the highest total volume of properties, </a:t>
            </a:r>
            <a:r>
              <a:rPr lang="en-GB" sz="2000" b="1" dirty="0" err="1">
                <a:solidFill>
                  <a:schemeClr val="bg1"/>
                </a:solidFill>
              </a:rPr>
              <a:t>Pangrati</a:t>
            </a:r>
            <a:r>
              <a:rPr lang="en-GB" sz="2000" b="1" dirty="0">
                <a:solidFill>
                  <a:schemeClr val="bg1"/>
                </a:solidFill>
              </a:rPr>
              <a:t> - Mets</a:t>
            </a:r>
            <a:r>
              <a:rPr lang="en-GB" sz="2000" dirty="0">
                <a:solidFill>
                  <a:schemeClr val="bg1"/>
                </a:solidFill>
              </a:rPr>
              <a:t> features the highest absolute number of renovated properties (357), followed closely by </a:t>
            </a:r>
            <a:r>
              <a:rPr lang="en-GB" sz="2000" dirty="0" err="1">
                <a:solidFill>
                  <a:schemeClr val="bg1"/>
                </a:solidFill>
              </a:rPr>
              <a:t>Kypeli</a:t>
            </a:r>
            <a:r>
              <a:rPr lang="en-GB" sz="2000" dirty="0">
                <a:solidFill>
                  <a:schemeClr val="bg1"/>
                </a:solidFill>
              </a:rPr>
              <a:t> (346) and Patisia (343).</a:t>
            </a:r>
          </a:p>
          <a:p>
            <a:endParaRPr lang="en-GB" sz="2400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</a:rPr>
              <a:t>Renovations in Small-to-Mid Sized Units:</a:t>
            </a:r>
          </a:p>
          <a:p>
            <a:r>
              <a:rPr lang="en-GB" sz="2000" dirty="0">
                <a:solidFill>
                  <a:schemeClr val="bg1"/>
                </a:solidFill>
              </a:rPr>
              <a:t>The property size distribution is right-skewed, peaking between </a:t>
            </a:r>
            <a:r>
              <a:rPr lang="en-GB" sz="2000" b="1" dirty="0">
                <a:solidFill>
                  <a:schemeClr val="bg1"/>
                </a:solidFill>
              </a:rPr>
              <a:t>45 and 70 sqm</a:t>
            </a:r>
            <a:r>
              <a:rPr lang="en-GB" sz="2000" dirty="0">
                <a:solidFill>
                  <a:schemeClr val="bg1"/>
                </a:solidFill>
              </a:rPr>
              <a:t>. Renovation volume drops off significantly for properties larger than </a:t>
            </a:r>
            <a:r>
              <a:rPr lang="en-GB" sz="2000" b="1" dirty="0">
                <a:solidFill>
                  <a:schemeClr val="bg1"/>
                </a:solidFill>
              </a:rPr>
              <a:t>90 sqm</a:t>
            </a:r>
            <a:r>
              <a:rPr lang="en-GB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D3CEED1A-964A-EF77-FA09-BC5EFA4EECBC}"/>
              </a:ext>
            </a:extLst>
          </p:cNvPr>
          <p:cNvSpPr txBox="1"/>
          <p:nvPr/>
        </p:nvSpPr>
        <p:spPr>
          <a:xfrm>
            <a:off x="10952396" y="934721"/>
            <a:ext cx="261120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Smart Investor</a:t>
            </a:r>
          </a:p>
        </p:txBody>
      </p:sp>
    </p:spTree>
    <p:extLst>
      <p:ext uri="{BB962C8B-B14F-4D97-AF65-F5344CB8AC3E}">
        <p14:creationId xmlns:p14="http://schemas.microsoft.com/office/powerpoint/2010/main" val="173995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8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decel="8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decel="8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xit" presetSubtype="8" accel="8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xit" presetSubtype="8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" presetClass="exit" presetSubtype="2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6" grpId="0"/>
      <p:bldP spid="1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762D45-ACC6-B82D-5417-44F6DFEB8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FEABEC7-2C90-A4C9-0245-5FCCEEA1D4F7}"/>
              </a:ext>
            </a:extLst>
          </p:cNvPr>
          <p:cNvSpPr/>
          <p:nvPr/>
        </p:nvSpPr>
        <p:spPr>
          <a:xfrm>
            <a:off x="1818269" y="846268"/>
            <a:ext cx="516732" cy="381898"/>
          </a:xfrm>
          <a:custGeom>
            <a:avLst/>
            <a:gdLst/>
            <a:ahLst/>
            <a:cxnLst/>
            <a:rect l="l" t="t" r="r" b="b"/>
            <a:pathLst>
              <a:path w="516732" h="381898">
                <a:moveTo>
                  <a:pt x="0" y="0"/>
                </a:moveTo>
                <a:lnTo>
                  <a:pt x="516733" y="0"/>
                </a:lnTo>
                <a:lnTo>
                  <a:pt x="516733" y="381898"/>
                </a:lnTo>
                <a:lnTo>
                  <a:pt x="0" y="381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49A6B6B-5DD4-E7A0-EF27-7FC664D5D052}"/>
              </a:ext>
            </a:extLst>
          </p:cNvPr>
          <p:cNvSpPr/>
          <p:nvPr/>
        </p:nvSpPr>
        <p:spPr>
          <a:xfrm>
            <a:off x="14355033" y="858669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3AA3B2A-CF91-620F-E03B-E9C9CA867857}"/>
              </a:ext>
            </a:extLst>
          </p:cNvPr>
          <p:cNvSpPr txBox="1"/>
          <p:nvPr/>
        </p:nvSpPr>
        <p:spPr>
          <a:xfrm>
            <a:off x="15935932" y="924554"/>
            <a:ext cx="1522880" cy="25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Page</a:t>
            </a:r>
            <a:r>
              <a:rPr lang="en-US" sz="186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002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47F89E90-E6E5-705B-D3DE-91209085A95A}"/>
              </a:ext>
            </a:extLst>
          </p:cNvPr>
          <p:cNvSpPr txBox="1"/>
          <p:nvPr/>
        </p:nvSpPr>
        <p:spPr>
          <a:xfrm>
            <a:off x="4400896" y="934721"/>
            <a:ext cx="2718832" cy="2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Neighborhood Deep Dive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AEF2823F-17DF-116C-BA88-59A6C72F43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455" y="1678483"/>
            <a:ext cx="14348978" cy="8041218"/>
          </a:xfrm>
          <a:prstGeom prst="rect">
            <a:avLst/>
          </a:prstGeom>
        </p:spPr>
      </p:pic>
      <p:sp>
        <p:nvSpPr>
          <p:cNvPr id="24" name="TextBox 11">
            <a:extLst>
              <a:ext uri="{FF2B5EF4-FFF2-40B4-BE49-F238E27FC236}">
                <a16:creationId xmlns:a16="http://schemas.microsoft.com/office/drawing/2014/main" id="{45B706FE-4AEA-731A-2CE1-DF6048AEE3C7}"/>
              </a:ext>
            </a:extLst>
          </p:cNvPr>
          <p:cNvSpPr txBox="1"/>
          <p:nvPr/>
        </p:nvSpPr>
        <p:spPr>
          <a:xfrm>
            <a:off x="7346628" y="934721"/>
            <a:ext cx="13359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Energy Trends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70D6A47B-37DC-32B3-394F-6465BC24A07A}"/>
              </a:ext>
            </a:extLst>
          </p:cNvPr>
          <p:cNvSpPr txBox="1"/>
          <p:nvPr/>
        </p:nvSpPr>
        <p:spPr>
          <a:xfrm>
            <a:off x="9018812" y="934721"/>
            <a:ext cx="15973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Premium Listings</a:t>
            </a:r>
          </a:p>
        </p:txBody>
      </p:sp>
      <p:sp>
        <p:nvSpPr>
          <p:cNvPr id="30" name="Freeform 19">
            <a:extLst>
              <a:ext uri="{FF2B5EF4-FFF2-40B4-BE49-F238E27FC236}">
                <a16:creationId xmlns:a16="http://schemas.microsoft.com/office/drawing/2014/main" id="{DB77CA64-6EBC-7E73-0D3A-B402C9578530}"/>
              </a:ext>
            </a:extLst>
          </p:cNvPr>
          <p:cNvSpPr/>
          <p:nvPr/>
        </p:nvSpPr>
        <p:spPr>
          <a:xfrm>
            <a:off x="7772401" y="3314700"/>
            <a:ext cx="5181599" cy="6248400"/>
          </a:xfrm>
          <a:custGeom>
            <a:avLst/>
            <a:gdLst/>
            <a:ahLst/>
            <a:cxnLst/>
            <a:rect l="l" t="t" r="r" b="b"/>
            <a:pathLst>
              <a:path w="1043190" h="774835">
                <a:moveTo>
                  <a:pt x="41047" y="0"/>
                </a:moveTo>
                <a:lnTo>
                  <a:pt x="1002143" y="0"/>
                </a:lnTo>
                <a:cubicBezTo>
                  <a:pt x="1013029" y="0"/>
                  <a:pt x="1023470" y="4325"/>
                  <a:pt x="1031167" y="12022"/>
                </a:cubicBezTo>
                <a:cubicBezTo>
                  <a:pt x="1038865" y="19720"/>
                  <a:pt x="1043190" y="30160"/>
                  <a:pt x="1043190" y="41047"/>
                </a:cubicBezTo>
                <a:lnTo>
                  <a:pt x="1043190" y="733789"/>
                </a:lnTo>
                <a:cubicBezTo>
                  <a:pt x="1043190" y="756458"/>
                  <a:pt x="1024812" y="774835"/>
                  <a:pt x="1002143" y="774835"/>
                </a:cubicBezTo>
                <a:lnTo>
                  <a:pt x="41047" y="774835"/>
                </a:lnTo>
                <a:cubicBezTo>
                  <a:pt x="30160" y="774835"/>
                  <a:pt x="19720" y="770511"/>
                  <a:pt x="12022" y="762813"/>
                </a:cubicBezTo>
                <a:cubicBezTo>
                  <a:pt x="4325" y="755115"/>
                  <a:pt x="0" y="744675"/>
                  <a:pt x="0" y="733789"/>
                </a:cubicBezTo>
                <a:lnTo>
                  <a:pt x="0" y="41047"/>
                </a:lnTo>
                <a:cubicBezTo>
                  <a:pt x="0" y="30160"/>
                  <a:pt x="4325" y="19720"/>
                  <a:pt x="12022" y="12022"/>
                </a:cubicBezTo>
                <a:cubicBezTo>
                  <a:pt x="19720" y="4325"/>
                  <a:pt x="30160" y="0"/>
                  <a:pt x="41047" y="0"/>
                </a:cubicBezTo>
                <a:close/>
              </a:path>
            </a:pathLst>
          </a:custGeom>
          <a:solidFill>
            <a:srgbClr val="252423"/>
          </a:solidFill>
          <a:ln w="28575" cap="rnd">
            <a:solidFill>
              <a:srgbClr val="C8C8C8"/>
            </a:solidFill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49E5AD-A189-8D1D-2692-A52A2D78480C}"/>
              </a:ext>
            </a:extLst>
          </p:cNvPr>
          <p:cNvSpPr txBox="1"/>
          <p:nvPr/>
        </p:nvSpPr>
        <p:spPr>
          <a:xfrm>
            <a:off x="7924800" y="3483769"/>
            <a:ext cx="4876800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Modern Construction is the Top Driver:</a:t>
            </a:r>
          </a:p>
          <a:p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Having a construction year between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2010 and 2025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 is the single strongest driver in </a:t>
            </a:r>
            <a:r>
              <a:rPr lang="en-GB" sz="2000" dirty="0" err="1">
                <a:solidFill>
                  <a:schemeClr val="bg1">
                    <a:lumMod val="95000"/>
                  </a:schemeClr>
                </a:solidFill>
              </a:rPr>
              <a:t>Pangrati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 - Mets, boosting the average price per square meter by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1.52K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endParaRPr lang="en-GB" sz="28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High Energy Standards Pull a Premium:</a:t>
            </a:r>
          </a:p>
          <a:p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High-efficiency properties command a massive premium here, with an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A+ energy class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 increasing the average price by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1K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 and an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A rating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 increasing it by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944.8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endParaRPr lang="en-GB" sz="28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Parking Outranks Mid-to-High Floors:</a:t>
            </a:r>
          </a:p>
          <a:p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Dedicated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parking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 significantly moves the needle, adding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791.4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 to the average price per square meter—outpacing both higher floor levels (4th–10th floors at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442.6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) and having an elevator (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430.4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).</a:t>
            </a:r>
          </a:p>
          <a:p>
            <a:endParaRPr lang="en-GB" dirty="0"/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7B8DC92F-078E-BBD2-10EB-84CAA234C5BE}"/>
              </a:ext>
            </a:extLst>
          </p:cNvPr>
          <p:cNvSpPr txBox="1"/>
          <p:nvPr/>
        </p:nvSpPr>
        <p:spPr>
          <a:xfrm>
            <a:off x="2650291" y="934721"/>
            <a:ext cx="1636464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 panose="020B0604020202020204" charset="0"/>
                <a:ea typeface="TT Norms"/>
                <a:cs typeface="TT Norms"/>
                <a:sym typeface="TT Norms"/>
              </a:rPr>
              <a:t>Market Overview</a:t>
            </a:r>
          </a:p>
        </p:txBody>
      </p:sp>
      <p:sp>
        <p:nvSpPr>
          <p:cNvPr id="5" name="TextBox 11">
            <a:extLst>
              <a:ext uri="{FF2B5EF4-FFF2-40B4-BE49-F238E27FC236}">
                <a16:creationId xmlns:a16="http://schemas.microsoft.com/office/drawing/2014/main" id="{F2870A29-374C-9BC6-7213-DF92BF53BEE4}"/>
              </a:ext>
            </a:extLst>
          </p:cNvPr>
          <p:cNvSpPr txBox="1"/>
          <p:nvPr/>
        </p:nvSpPr>
        <p:spPr>
          <a:xfrm>
            <a:off x="10952396" y="934721"/>
            <a:ext cx="261120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Smart Investor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CA87DD8C-FCF8-09D9-7A52-AB295BA3C06F}"/>
              </a:ext>
            </a:extLst>
          </p:cNvPr>
          <p:cNvSpPr/>
          <p:nvPr/>
        </p:nvSpPr>
        <p:spPr>
          <a:xfrm rot="10800000">
            <a:off x="13421138" y="854784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80342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29" grpId="0"/>
      <p:bldP spid="2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B51256-309F-B88F-87B0-E3DDAB2D3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05FD79F-6436-9587-1DA1-FC16085E6F9A}"/>
              </a:ext>
            </a:extLst>
          </p:cNvPr>
          <p:cNvSpPr/>
          <p:nvPr/>
        </p:nvSpPr>
        <p:spPr>
          <a:xfrm>
            <a:off x="1818269" y="846268"/>
            <a:ext cx="516732" cy="381898"/>
          </a:xfrm>
          <a:custGeom>
            <a:avLst/>
            <a:gdLst/>
            <a:ahLst/>
            <a:cxnLst/>
            <a:rect l="l" t="t" r="r" b="b"/>
            <a:pathLst>
              <a:path w="516732" h="381898">
                <a:moveTo>
                  <a:pt x="0" y="0"/>
                </a:moveTo>
                <a:lnTo>
                  <a:pt x="516733" y="0"/>
                </a:lnTo>
                <a:lnTo>
                  <a:pt x="516733" y="381898"/>
                </a:lnTo>
                <a:lnTo>
                  <a:pt x="0" y="381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68E8B11-298A-8AE5-B3BF-01DA6B86D78C}"/>
              </a:ext>
            </a:extLst>
          </p:cNvPr>
          <p:cNvSpPr/>
          <p:nvPr/>
        </p:nvSpPr>
        <p:spPr>
          <a:xfrm>
            <a:off x="14355033" y="858669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F6F53DA-D748-E801-69DF-42C9D4BF2349}"/>
              </a:ext>
            </a:extLst>
          </p:cNvPr>
          <p:cNvSpPr txBox="1"/>
          <p:nvPr/>
        </p:nvSpPr>
        <p:spPr>
          <a:xfrm>
            <a:off x="15935932" y="924554"/>
            <a:ext cx="1522880" cy="25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Page</a:t>
            </a:r>
            <a:r>
              <a:rPr lang="en-US" sz="186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002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687229A1-0E94-1384-B2D3-98E02F035ADB}"/>
              </a:ext>
            </a:extLst>
          </p:cNvPr>
          <p:cNvSpPr txBox="1"/>
          <p:nvPr/>
        </p:nvSpPr>
        <p:spPr>
          <a:xfrm>
            <a:off x="4400896" y="934721"/>
            <a:ext cx="2718832" cy="2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Neighborhood Deep Dive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49A859-FFA3-D215-8B2F-48482ED806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455" y="1673851"/>
            <a:ext cx="14348978" cy="8041218"/>
          </a:xfrm>
          <a:prstGeom prst="rect">
            <a:avLst/>
          </a:prstGeom>
        </p:spPr>
      </p:pic>
      <p:sp>
        <p:nvSpPr>
          <p:cNvPr id="24" name="TextBox 11">
            <a:extLst>
              <a:ext uri="{FF2B5EF4-FFF2-40B4-BE49-F238E27FC236}">
                <a16:creationId xmlns:a16="http://schemas.microsoft.com/office/drawing/2014/main" id="{5EC863AF-6926-6087-9151-90D827DDE84B}"/>
              </a:ext>
            </a:extLst>
          </p:cNvPr>
          <p:cNvSpPr txBox="1"/>
          <p:nvPr/>
        </p:nvSpPr>
        <p:spPr>
          <a:xfrm>
            <a:off x="7346628" y="934721"/>
            <a:ext cx="13359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Energy Trends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BDBF7E3F-81E9-6E02-5013-D570E59FACF3}"/>
              </a:ext>
            </a:extLst>
          </p:cNvPr>
          <p:cNvSpPr txBox="1"/>
          <p:nvPr/>
        </p:nvSpPr>
        <p:spPr>
          <a:xfrm>
            <a:off x="9018812" y="934721"/>
            <a:ext cx="15973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Premium Listings</a:t>
            </a:r>
          </a:p>
        </p:txBody>
      </p:sp>
      <p:sp>
        <p:nvSpPr>
          <p:cNvPr id="30" name="Freeform 19">
            <a:extLst>
              <a:ext uri="{FF2B5EF4-FFF2-40B4-BE49-F238E27FC236}">
                <a16:creationId xmlns:a16="http://schemas.microsoft.com/office/drawing/2014/main" id="{C4346EC9-97CC-B804-AF58-40E5BCC540E6}"/>
              </a:ext>
            </a:extLst>
          </p:cNvPr>
          <p:cNvSpPr/>
          <p:nvPr/>
        </p:nvSpPr>
        <p:spPr>
          <a:xfrm>
            <a:off x="7772401" y="3314700"/>
            <a:ext cx="5181599" cy="6248400"/>
          </a:xfrm>
          <a:custGeom>
            <a:avLst/>
            <a:gdLst/>
            <a:ahLst/>
            <a:cxnLst/>
            <a:rect l="l" t="t" r="r" b="b"/>
            <a:pathLst>
              <a:path w="1043190" h="774835">
                <a:moveTo>
                  <a:pt x="41047" y="0"/>
                </a:moveTo>
                <a:lnTo>
                  <a:pt x="1002143" y="0"/>
                </a:lnTo>
                <a:cubicBezTo>
                  <a:pt x="1013029" y="0"/>
                  <a:pt x="1023470" y="4325"/>
                  <a:pt x="1031167" y="12022"/>
                </a:cubicBezTo>
                <a:cubicBezTo>
                  <a:pt x="1038865" y="19720"/>
                  <a:pt x="1043190" y="30160"/>
                  <a:pt x="1043190" y="41047"/>
                </a:cubicBezTo>
                <a:lnTo>
                  <a:pt x="1043190" y="733789"/>
                </a:lnTo>
                <a:cubicBezTo>
                  <a:pt x="1043190" y="756458"/>
                  <a:pt x="1024812" y="774835"/>
                  <a:pt x="1002143" y="774835"/>
                </a:cubicBezTo>
                <a:lnTo>
                  <a:pt x="41047" y="774835"/>
                </a:lnTo>
                <a:cubicBezTo>
                  <a:pt x="30160" y="774835"/>
                  <a:pt x="19720" y="770511"/>
                  <a:pt x="12022" y="762813"/>
                </a:cubicBezTo>
                <a:cubicBezTo>
                  <a:pt x="4325" y="755115"/>
                  <a:pt x="0" y="744675"/>
                  <a:pt x="0" y="733789"/>
                </a:cubicBezTo>
                <a:lnTo>
                  <a:pt x="0" y="41047"/>
                </a:lnTo>
                <a:cubicBezTo>
                  <a:pt x="0" y="30160"/>
                  <a:pt x="4325" y="19720"/>
                  <a:pt x="12022" y="12022"/>
                </a:cubicBezTo>
                <a:cubicBezTo>
                  <a:pt x="19720" y="4325"/>
                  <a:pt x="30160" y="0"/>
                  <a:pt x="41047" y="0"/>
                </a:cubicBezTo>
                <a:close/>
              </a:path>
            </a:pathLst>
          </a:custGeom>
          <a:solidFill>
            <a:srgbClr val="252423"/>
          </a:solidFill>
          <a:ln w="28575" cap="rnd">
            <a:solidFill>
              <a:srgbClr val="C8C8C8"/>
            </a:solidFill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570FAC-6B49-E1EE-7D4D-F747D6E3354E}"/>
              </a:ext>
            </a:extLst>
          </p:cNvPr>
          <p:cNvSpPr txBox="1"/>
          <p:nvPr/>
        </p:nvSpPr>
        <p:spPr>
          <a:xfrm>
            <a:off x="7924800" y="3436858"/>
            <a:ext cx="48768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Post-2002 Construction Matters Most:</a:t>
            </a:r>
          </a:p>
          <a:p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Patisia sees its biggest price jump for properties built anytime after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2002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, which increases the average price per square meter by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532.9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endParaRPr lang="en-GB" sz="12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Parking is highly valued:</a:t>
            </a:r>
          </a:p>
          <a:p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Having a dedicated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parking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 space is the second most powerful driver in this </a:t>
            </a:r>
            <a:r>
              <a:rPr lang="en-GB" sz="2000" dirty="0" err="1">
                <a:solidFill>
                  <a:schemeClr val="bg1">
                    <a:lumMod val="95000"/>
                  </a:schemeClr>
                </a:solidFill>
              </a:rPr>
              <a:t>neighborhood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, boosting the average price by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434.8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—significantly outpacing features like standard renovations (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218.9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).</a:t>
            </a:r>
          </a:p>
          <a:p>
            <a:endParaRPr lang="en-GB" sz="12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Moderate Energy and Building Age Benchmarks:</a:t>
            </a:r>
          </a:p>
          <a:p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The entry-level price drivers are lower here; a baseline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B energy class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 increases prices by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257.4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, and even an older build from the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1982–2002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 era still provides a notable positive impact of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295.5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endParaRPr lang="en-GB" dirty="0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686FAB96-079D-01FB-410C-A67520FD9238}"/>
              </a:ext>
            </a:extLst>
          </p:cNvPr>
          <p:cNvSpPr txBox="1"/>
          <p:nvPr/>
        </p:nvSpPr>
        <p:spPr>
          <a:xfrm>
            <a:off x="2650291" y="934721"/>
            <a:ext cx="1636464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 panose="020B0604020202020204" charset="0"/>
                <a:ea typeface="TT Norms"/>
                <a:cs typeface="TT Norms"/>
                <a:sym typeface="TT Norms"/>
              </a:rPr>
              <a:t>Market Overview</a:t>
            </a: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2CC7390E-15FC-5B67-A55E-335CA052FA66}"/>
              </a:ext>
            </a:extLst>
          </p:cNvPr>
          <p:cNvSpPr txBox="1"/>
          <p:nvPr/>
        </p:nvSpPr>
        <p:spPr>
          <a:xfrm>
            <a:off x="10952396" y="934721"/>
            <a:ext cx="261120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Smart Investor</a:t>
            </a: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6C237746-2868-557B-9B1F-B4B25C2737C0}"/>
              </a:ext>
            </a:extLst>
          </p:cNvPr>
          <p:cNvSpPr/>
          <p:nvPr/>
        </p:nvSpPr>
        <p:spPr>
          <a:xfrm rot="10800000">
            <a:off x="13421138" y="854784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118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29" grpId="0"/>
      <p:bldP spid="2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D58219-99AA-DE6F-4651-9C5207DE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A179F1-1BCE-196E-951B-282008495021}"/>
              </a:ext>
            </a:extLst>
          </p:cNvPr>
          <p:cNvSpPr/>
          <p:nvPr/>
        </p:nvSpPr>
        <p:spPr>
          <a:xfrm>
            <a:off x="1818269" y="846268"/>
            <a:ext cx="516732" cy="381898"/>
          </a:xfrm>
          <a:custGeom>
            <a:avLst/>
            <a:gdLst/>
            <a:ahLst/>
            <a:cxnLst/>
            <a:rect l="l" t="t" r="r" b="b"/>
            <a:pathLst>
              <a:path w="516732" h="381898">
                <a:moveTo>
                  <a:pt x="0" y="0"/>
                </a:moveTo>
                <a:lnTo>
                  <a:pt x="516733" y="0"/>
                </a:lnTo>
                <a:lnTo>
                  <a:pt x="516733" y="381898"/>
                </a:lnTo>
                <a:lnTo>
                  <a:pt x="0" y="381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FC708C-6E36-803B-F1AD-0A39C86AE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455" y="1673851"/>
            <a:ext cx="14348978" cy="8041218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DB15C25E-F4A0-201D-18B7-D55DC0CD6277}"/>
              </a:ext>
            </a:extLst>
          </p:cNvPr>
          <p:cNvSpPr/>
          <p:nvPr/>
        </p:nvSpPr>
        <p:spPr>
          <a:xfrm>
            <a:off x="14355033" y="858669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07462A3-2E9A-E63E-D1C3-4B125349C543}"/>
              </a:ext>
            </a:extLst>
          </p:cNvPr>
          <p:cNvSpPr txBox="1"/>
          <p:nvPr/>
        </p:nvSpPr>
        <p:spPr>
          <a:xfrm>
            <a:off x="15935932" y="924554"/>
            <a:ext cx="1522880" cy="25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Page</a:t>
            </a:r>
            <a:r>
              <a:rPr lang="en-US" sz="186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002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061D7263-ED3C-B2E8-3F97-FE38E22F8F63}"/>
              </a:ext>
            </a:extLst>
          </p:cNvPr>
          <p:cNvSpPr txBox="1"/>
          <p:nvPr/>
        </p:nvSpPr>
        <p:spPr>
          <a:xfrm>
            <a:off x="4400896" y="934721"/>
            <a:ext cx="2718832" cy="2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Neighborhood Deep Dive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CAB723B5-7A41-5018-2FFF-0FCE377782B0}"/>
              </a:ext>
            </a:extLst>
          </p:cNvPr>
          <p:cNvSpPr txBox="1"/>
          <p:nvPr/>
        </p:nvSpPr>
        <p:spPr>
          <a:xfrm>
            <a:off x="7346628" y="934721"/>
            <a:ext cx="13359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Energy Trends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0BBFC50B-BCDF-51ED-85D0-0E424C1D86C0}"/>
              </a:ext>
            </a:extLst>
          </p:cNvPr>
          <p:cNvSpPr txBox="1"/>
          <p:nvPr/>
        </p:nvSpPr>
        <p:spPr>
          <a:xfrm>
            <a:off x="9018812" y="934721"/>
            <a:ext cx="15973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Premium Listings</a:t>
            </a:r>
          </a:p>
        </p:txBody>
      </p:sp>
      <p:sp>
        <p:nvSpPr>
          <p:cNvPr id="30" name="Freeform 19">
            <a:extLst>
              <a:ext uri="{FF2B5EF4-FFF2-40B4-BE49-F238E27FC236}">
                <a16:creationId xmlns:a16="http://schemas.microsoft.com/office/drawing/2014/main" id="{E3B518AD-81C9-3DF3-35CC-CF2A5D0B714D}"/>
              </a:ext>
            </a:extLst>
          </p:cNvPr>
          <p:cNvSpPr/>
          <p:nvPr/>
        </p:nvSpPr>
        <p:spPr>
          <a:xfrm>
            <a:off x="7772401" y="3314700"/>
            <a:ext cx="5181599" cy="6248400"/>
          </a:xfrm>
          <a:custGeom>
            <a:avLst/>
            <a:gdLst/>
            <a:ahLst/>
            <a:cxnLst/>
            <a:rect l="l" t="t" r="r" b="b"/>
            <a:pathLst>
              <a:path w="1043190" h="774835">
                <a:moveTo>
                  <a:pt x="41047" y="0"/>
                </a:moveTo>
                <a:lnTo>
                  <a:pt x="1002143" y="0"/>
                </a:lnTo>
                <a:cubicBezTo>
                  <a:pt x="1013029" y="0"/>
                  <a:pt x="1023470" y="4325"/>
                  <a:pt x="1031167" y="12022"/>
                </a:cubicBezTo>
                <a:cubicBezTo>
                  <a:pt x="1038865" y="19720"/>
                  <a:pt x="1043190" y="30160"/>
                  <a:pt x="1043190" y="41047"/>
                </a:cubicBezTo>
                <a:lnTo>
                  <a:pt x="1043190" y="733789"/>
                </a:lnTo>
                <a:cubicBezTo>
                  <a:pt x="1043190" y="756458"/>
                  <a:pt x="1024812" y="774835"/>
                  <a:pt x="1002143" y="774835"/>
                </a:cubicBezTo>
                <a:lnTo>
                  <a:pt x="41047" y="774835"/>
                </a:lnTo>
                <a:cubicBezTo>
                  <a:pt x="30160" y="774835"/>
                  <a:pt x="19720" y="770511"/>
                  <a:pt x="12022" y="762813"/>
                </a:cubicBezTo>
                <a:cubicBezTo>
                  <a:pt x="4325" y="755115"/>
                  <a:pt x="0" y="744675"/>
                  <a:pt x="0" y="733789"/>
                </a:cubicBezTo>
                <a:lnTo>
                  <a:pt x="0" y="41047"/>
                </a:lnTo>
                <a:cubicBezTo>
                  <a:pt x="0" y="30160"/>
                  <a:pt x="4325" y="19720"/>
                  <a:pt x="12022" y="12022"/>
                </a:cubicBezTo>
                <a:cubicBezTo>
                  <a:pt x="19720" y="4325"/>
                  <a:pt x="30160" y="0"/>
                  <a:pt x="41047" y="0"/>
                </a:cubicBezTo>
                <a:close/>
              </a:path>
            </a:pathLst>
          </a:custGeom>
          <a:solidFill>
            <a:srgbClr val="252423"/>
          </a:solidFill>
          <a:ln w="28575" cap="rnd">
            <a:solidFill>
              <a:srgbClr val="C8C8C8"/>
            </a:solidFill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300F4E-27C1-4E5B-CB3B-B387EF91998B}"/>
              </a:ext>
            </a:extLst>
          </p:cNvPr>
          <p:cNvSpPr txBox="1"/>
          <p:nvPr/>
        </p:nvSpPr>
        <p:spPr>
          <a:xfrm>
            <a:off x="7924800" y="3467100"/>
            <a:ext cx="4876800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Top-Tier Sustainability Rules:</a:t>
            </a:r>
          </a:p>
          <a:p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An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A+ energy class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 is the single strongest driver in Neos Kosmos, increasing the average price per square meter by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1.11K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 (with an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A rating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 also showing a massive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825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 jump).</a:t>
            </a:r>
          </a:p>
          <a:p>
            <a:endParaRPr lang="en-GB" sz="12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Premium for Post-2008 Modernity:</a:t>
            </a:r>
          </a:p>
          <a:p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Having a construction year newer than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2008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 provides a massive boost of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1.01K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, while older mid-2000s builds (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2001–2008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) still net a strong premium of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500.3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.</a:t>
            </a:r>
          </a:p>
          <a:p>
            <a:endParaRPr lang="en-GB" sz="12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Sky-High Floors Outpace Practical Amenities: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 Living on an ultra-high floor (above the 11th) brings a staggering 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956.2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 increase to the price per square meter, noticeably outranking essential practical features like parking (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620.5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) and having an elevator (</a:t>
            </a:r>
            <a:r>
              <a:rPr lang="en-GB" sz="2000" b="1" dirty="0">
                <a:solidFill>
                  <a:schemeClr val="bg1">
                    <a:lumMod val="95000"/>
                  </a:schemeClr>
                </a:solidFill>
              </a:rPr>
              <a:t>425.4</a:t>
            </a:r>
            <a:r>
              <a:rPr lang="en-GB" sz="2000" dirty="0">
                <a:solidFill>
                  <a:schemeClr val="bg1">
                    <a:lumMod val="95000"/>
                  </a:schemeClr>
                </a:solidFill>
              </a:rPr>
              <a:t>).</a:t>
            </a:r>
          </a:p>
          <a:p>
            <a:endParaRPr lang="en-GB" dirty="0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5F4E2C1D-F814-1F2F-579E-1943ABCFED4E}"/>
              </a:ext>
            </a:extLst>
          </p:cNvPr>
          <p:cNvSpPr txBox="1"/>
          <p:nvPr/>
        </p:nvSpPr>
        <p:spPr>
          <a:xfrm>
            <a:off x="2650291" y="934721"/>
            <a:ext cx="1636464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 panose="020B0604020202020204" charset="0"/>
                <a:ea typeface="TT Norms"/>
                <a:cs typeface="TT Norms"/>
                <a:sym typeface="TT Norms"/>
              </a:rPr>
              <a:t>Market Overview</a:t>
            </a: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F4E5B7E8-F96A-3AB9-9D60-E050309DCE21}"/>
              </a:ext>
            </a:extLst>
          </p:cNvPr>
          <p:cNvSpPr txBox="1"/>
          <p:nvPr/>
        </p:nvSpPr>
        <p:spPr>
          <a:xfrm>
            <a:off x="10952396" y="934721"/>
            <a:ext cx="261120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Smart Investor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1527E470-945B-4AE8-850D-304F06A492D5}"/>
              </a:ext>
            </a:extLst>
          </p:cNvPr>
          <p:cNvSpPr/>
          <p:nvPr/>
        </p:nvSpPr>
        <p:spPr>
          <a:xfrm rot="10800000">
            <a:off x="13421138" y="854784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89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  <p:bldP spid="29" grpId="0"/>
      <p:bldP spid="2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87EF1D-1CBA-FE36-3465-9A0F6E92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F42F42-178C-BE9E-FAA3-17A9246D904C}"/>
              </a:ext>
            </a:extLst>
          </p:cNvPr>
          <p:cNvSpPr/>
          <p:nvPr/>
        </p:nvSpPr>
        <p:spPr>
          <a:xfrm>
            <a:off x="1818269" y="846268"/>
            <a:ext cx="516732" cy="381898"/>
          </a:xfrm>
          <a:custGeom>
            <a:avLst/>
            <a:gdLst/>
            <a:ahLst/>
            <a:cxnLst/>
            <a:rect l="l" t="t" r="r" b="b"/>
            <a:pathLst>
              <a:path w="516732" h="381898">
                <a:moveTo>
                  <a:pt x="0" y="0"/>
                </a:moveTo>
                <a:lnTo>
                  <a:pt x="516733" y="0"/>
                </a:lnTo>
                <a:lnTo>
                  <a:pt x="516733" y="381898"/>
                </a:lnTo>
                <a:lnTo>
                  <a:pt x="0" y="381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FD57CC4-55A9-D2B3-196C-34E0D92449AA}"/>
              </a:ext>
            </a:extLst>
          </p:cNvPr>
          <p:cNvSpPr/>
          <p:nvPr/>
        </p:nvSpPr>
        <p:spPr>
          <a:xfrm>
            <a:off x="14355033" y="858669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81208BD-4990-EF79-2153-194A437F2B8C}"/>
              </a:ext>
            </a:extLst>
          </p:cNvPr>
          <p:cNvSpPr txBox="1"/>
          <p:nvPr/>
        </p:nvSpPr>
        <p:spPr>
          <a:xfrm>
            <a:off x="15935932" y="924554"/>
            <a:ext cx="1522880" cy="25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Page</a:t>
            </a:r>
            <a:r>
              <a:rPr lang="en-US" sz="186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003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D6250796-F031-505C-BA99-580B5497D2F3}"/>
              </a:ext>
            </a:extLst>
          </p:cNvPr>
          <p:cNvSpPr txBox="1"/>
          <p:nvPr/>
        </p:nvSpPr>
        <p:spPr>
          <a:xfrm>
            <a:off x="7209243" y="934721"/>
            <a:ext cx="1597356" cy="2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Energy Trends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5C0D81E4-8531-DFA8-9E33-278525A98AE7}"/>
              </a:ext>
            </a:extLst>
          </p:cNvPr>
          <p:cNvSpPr txBox="1"/>
          <p:nvPr/>
        </p:nvSpPr>
        <p:spPr>
          <a:xfrm>
            <a:off x="9018812" y="934721"/>
            <a:ext cx="15973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Premium Listings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9F57BECB-A311-586F-0572-0EEDB397FFD5}"/>
              </a:ext>
            </a:extLst>
          </p:cNvPr>
          <p:cNvSpPr txBox="1"/>
          <p:nvPr/>
        </p:nvSpPr>
        <p:spPr>
          <a:xfrm>
            <a:off x="4603428" y="934721"/>
            <a:ext cx="2406972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Neighborhood Deep Dive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BA12797-80A1-D80F-C6C4-2890D77222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0794" y="1685421"/>
            <a:ext cx="5477639" cy="8029648"/>
          </a:xfrm>
          <a:prstGeom prst="rect">
            <a:avLst/>
          </a:prstGeom>
        </p:spPr>
      </p:pic>
      <p:sp>
        <p:nvSpPr>
          <p:cNvPr id="4" name="Freeform 19">
            <a:extLst>
              <a:ext uri="{FF2B5EF4-FFF2-40B4-BE49-F238E27FC236}">
                <a16:creationId xmlns:a16="http://schemas.microsoft.com/office/drawing/2014/main" id="{92CC94CD-B197-B07E-109E-8A37BE084733}"/>
              </a:ext>
            </a:extLst>
          </p:cNvPr>
          <p:cNvSpPr/>
          <p:nvPr/>
        </p:nvSpPr>
        <p:spPr>
          <a:xfrm>
            <a:off x="1932153" y="1685421"/>
            <a:ext cx="8783058" cy="3798259"/>
          </a:xfrm>
          <a:custGeom>
            <a:avLst/>
            <a:gdLst/>
            <a:ahLst/>
            <a:cxnLst/>
            <a:rect l="l" t="t" r="r" b="b"/>
            <a:pathLst>
              <a:path w="1043190" h="774835">
                <a:moveTo>
                  <a:pt x="41047" y="0"/>
                </a:moveTo>
                <a:lnTo>
                  <a:pt x="1002143" y="0"/>
                </a:lnTo>
                <a:cubicBezTo>
                  <a:pt x="1013029" y="0"/>
                  <a:pt x="1023470" y="4325"/>
                  <a:pt x="1031167" y="12022"/>
                </a:cubicBezTo>
                <a:cubicBezTo>
                  <a:pt x="1038865" y="19720"/>
                  <a:pt x="1043190" y="30160"/>
                  <a:pt x="1043190" y="41047"/>
                </a:cubicBezTo>
                <a:lnTo>
                  <a:pt x="1043190" y="733789"/>
                </a:lnTo>
                <a:cubicBezTo>
                  <a:pt x="1043190" y="756458"/>
                  <a:pt x="1024812" y="774835"/>
                  <a:pt x="1002143" y="774835"/>
                </a:cubicBezTo>
                <a:lnTo>
                  <a:pt x="41047" y="774835"/>
                </a:lnTo>
                <a:cubicBezTo>
                  <a:pt x="30160" y="774835"/>
                  <a:pt x="19720" y="770511"/>
                  <a:pt x="12022" y="762813"/>
                </a:cubicBezTo>
                <a:cubicBezTo>
                  <a:pt x="4325" y="755115"/>
                  <a:pt x="0" y="744675"/>
                  <a:pt x="0" y="733789"/>
                </a:cubicBezTo>
                <a:lnTo>
                  <a:pt x="0" y="41047"/>
                </a:lnTo>
                <a:cubicBezTo>
                  <a:pt x="0" y="30160"/>
                  <a:pt x="4325" y="19720"/>
                  <a:pt x="12022" y="12022"/>
                </a:cubicBezTo>
                <a:cubicBezTo>
                  <a:pt x="19720" y="4325"/>
                  <a:pt x="30160" y="0"/>
                  <a:pt x="41047" y="0"/>
                </a:cubicBezTo>
                <a:close/>
              </a:path>
            </a:pathLst>
          </a:custGeom>
          <a:ln w="28575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6CB0C3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BA3899-8380-0C3C-93C4-787DDF8F52BA}"/>
              </a:ext>
            </a:extLst>
          </p:cNvPr>
          <p:cNvSpPr txBox="1"/>
          <p:nvPr/>
        </p:nvSpPr>
        <p:spPr>
          <a:xfrm>
            <a:off x="2039426" y="1771114"/>
            <a:ext cx="8558768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Complete Domination of A/A+ Classes:</a:t>
            </a:r>
          </a:p>
          <a:p>
            <a:r>
              <a:rPr lang="en-GB" sz="2000" dirty="0">
                <a:solidFill>
                  <a:schemeClr val="bg1"/>
                </a:solidFill>
              </a:rPr>
              <a:t>New construction energy standards exploded after 2023. While older decades (pre-2010) are dominated by inefficient C-to-G ratings, the </a:t>
            </a:r>
            <a:r>
              <a:rPr lang="en-GB" sz="2000" b="1" dirty="0">
                <a:solidFill>
                  <a:schemeClr val="bg1"/>
                </a:solidFill>
              </a:rPr>
              <a:t>2020s decade</a:t>
            </a:r>
            <a:r>
              <a:rPr lang="en-GB" sz="2000" dirty="0">
                <a:solidFill>
                  <a:schemeClr val="bg1"/>
                </a:solidFill>
              </a:rPr>
              <a:t> consists almost entirely of top-tier </a:t>
            </a:r>
            <a:r>
              <a:rPr lang="en-GB" sz="2000" b="1" dirty="0">
                <a:solidFill>
                  <a:schemeClr val="bg1"/>
                </a:solidFill>
              </a:rPr>
              <a:t>A and A+</a:t>
            </a:r>
            <a:r>
              <a:rPr lang="en-GB" sz="2000" dirty="0">
                <a:solidFill>
                  <a:schemeClr val="bg1"/>
                </a:solidFill>
              </a:rPr>
              <a:t> properties. This sudden shift is due to strict national and EU regulations requiring all new builds to meet </a:t>
            </a:r>
            <a:r>
              <a:rPr lang="en-GB" sz="2000" b="1" dirty="0">
                <a:solidFill>
                  <a:schemeClr val="bg1"/>
                </a:solidFill>
              </a:rPr>
              <a:t>Nearly Zero-Energy Building (NZEB)</a:t>
            </a:r>
            <a:r>
              <a:rPr lang="en-GB" sz="2000" dirty="0">
                <a:solidFill>
                  <a:schemeClr val="bg1"/>
                </a:solidFill>
              </a:rPr>
              <a:t> criteria, alongside aggressive funding from</a:t>
            </a:r>
          </a:p>
          <a:p>
            <a:r>
              <a:rPr lang="en-GB" sz="2000" dirty="0">
                <a:solidFill>
                  <a:schemeClr val="bg1"/>
                </a:solidFill>
              </a:rPr>
              <a:t>Greece's </a:t>
            </a:r>
            <a:r>
              <a:rPr lang="en-GB" sz="2000" b="1" dirty="0">
                <a:solidFill>
                  <a:schemeClr val="bg1"/>
                </a:solidFill>
              </a:rPr>
              <a:t>"</a:t>
            </a:r>
            <a:r>
              <a:rPr lang="en-GB" sz="2000" b="1" dirty="0" err="1">
                <a:solidFill>
                  <a:schemeClr val="bg1"/>
                </a:solidFill>
              </a:rPr>
              <a:t>Exoikonomo</a:t>
            </a:r>
            <a:r>
              <a:rPr lang="en-GB" sz="2000" b="1" dirty="0">
                <a:solidFill>
                  <a:schemeClr val="bg1"/>
                </a:solidFill>
              </a:rPr>
              <a:t>"</a:t>
            </a:r>
            <a:r>
              <a:rPr lang="en-GB" sz="2000" dirty="0">
                <a:solidFill>
                  <a:schemeClr val="bg1"/>
                </a:solidFill>
              </a:rPr>
              <a:t> energy-efficiency subsidy programs.</a:t>
            </a:r>
          </a:p>
          <a:p>
            <a:endParaRPr lang="en-GB" sz="800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</a:rPr>
              <a:t>Drastic Reduction in Running Costs:</a:t>
            </a:r>
          </a:p>
          <a:p>
            <a:r>
              <a:rPr lang="en-GB" sz="2000" dirty="0">
                <a:solidFill>
                  <a:schemeClr val="bg1"/>
                </a:solidFill>
              </a:rPr>
              <a:t>According to national KENAK calculations, top-tier </a:t>
            </a:r>
            <a:r>
              <a:rPr lang="en-GB" sz="2000" b="1" dirty="0">
                <a:solidFill>
                  <a:schemeClr val="bg1"/>
                </a:solidFill>
              </a:rPr>
              <a:t>A+ properties achieve up to a 70% reduction in heating and cooling energy consumption</a:t>
            </a:r>
            <a:r>
              <a:rPr lang="en-GB" sz="2000" dirty="0">
                <a:solidFill>
                  <a:schemeClr val="bg1"/>
                </a:solidFill>
              </a:rPr>
              <a:t> compared to the older, standard baseline (Class B) properties that dominated previous decades.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0FFFF5-4DF9-86D1-2CF8-E410544490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409" y="5552063"/>
            <a:ext cx="8792802" cy="4163006"/>
          </a:xfrm>
          <a:prstGeom prst="rect">
            <a:avLst/>
          </a:prstGeom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31462396-D1AA-4E94-3FBE-510F1AC9C5C9}"/>
              </a:ext>
            </a:extLst>
          </p:cNvPr>
          <p:cNvSpPr txBox="1"/>
          <p:nvPr/>
        </p:nvSpPr>
        <p:spPr>
          <a:xfrm>
            <a:off x="2650291" y="934721"/>
            <a:ext cx="1636464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 panose="020B0604020202020204" charset="0"/>
                <a:ea typeface="TT Norms"/>
                <a:cs typeface="TT Norms"/>
                <a:sym typeface="TT Norms"/>
              </a:rPr>
              <a:t>Market Overview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560C59BB-2F91-1D3D-EED2-3F1B4127E90D}"/>
              </a:ext>
            </a:extLst>
          </p:cNvPr>
          <p:cNvSpPr txBox="1"/>
          <p:nvPr/>
        </p:nvSpPr>
        <p:spPr>
          <a:xfrm>
            <a:off x="10952396" y="934721"/>
            <a:ext cx="261120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Smart Investor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60B7B15-9D35-BD27-8009-3699628FA7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709" y="1685421"/>
            <a:ext cx="8821381" cy="3810532"/>
          </a:xfrm>
          <a:prstGeom prst="rect">
            <a:avLst/>
          </a:prstGeom>
        </p:spPr>
      </p:pic>
      <p:sp>
        <p:nvSpPr>
          <p:cNvPr id="12" name="Freeform 3">
            <a:extLst>
              <a:ext uri="{FF2B5EF4-FFF2-40B4-BE49-F238E27FC236}">
                <a16:creationId xmlns:a16="http://schemas.microsoft.com/office/drawing/2014/main" id="{4DD1AF0E-529F-B98D-2A4E-A737BA34C506}"/>
              </a:ext>
            </a:extLst>
          </p:cNvPr>
          <p:cNvSpPr/>
          <p:nvPr/>
        </p:nvSpPr>
        <p:spPr>
          <a:xfrm rot="10800000">
            <a:off x="13421138" y="854784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7270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accel="8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xit" presetSubtype="2" accel="8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" presetClass="exit" presetSubtype="8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/>
      <p:bldP spid="5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3A990-3F41-9612-4F76-D13B5EC4E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B0B1B98-7B92-9A2D-F62E-F7C69746313C}"/>
              </a:ext>
            </a:extLst>
          </p:cNvPr>
          <p:cNvSpPr/>
          <p:nvPr/>
        </p:nvSpPr>
        <p:spPr>
          <a:xfrm>
            <a:off x="1818269" y="846268"/>
            <a:ext cx="516732" cy="381898"/>
          </a:xfrm>
          <a:custGeom>
            <a:avLst/>
            <a:gdLst/>
            <a:ahLst/>
            <a:cxnLst/>
            <a:rect l="l" t="t" r="r" b="b"/>
            <a:pathLst>
              <a:path w="516732" h="381898">
                <a:moveTo>
                  <a:pt x="0" y="0"/>
                </a:moveTo>
                <a:lnTo>
                  <a:pt x="516733" y="0"/>
                </a:lnTo>
                <a:lnTo>
                  <a:pt x="516733" y="381898"/>
                </a:lnTo>
                <a:lnTo>
                  <a:pt x="0" y="381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7199227-26B8-A2A2-E8BB-6BB02C44981D}"/>
              </a:ext>
            </a:extLst>
          </p:cNvPr>
          <p:cNvSpPr/>
          <p:nvPr/>
        </p:nvSpPr>
        <p:spPr>
          <a:xfrm>
            <a:off x="14355033" y="858669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717754C-1AFE-0429-30A9-7EDEC2481995}"/>
              </a:ext>
            </a:extLst>
          </p:cNvPr>
          <p:cNvSpPr txBox="1"/>
          <p:nvPr/>
        </p:nvSpPr>
        <p:spPr>
          <a:xfrm>
            <a:off x="15935932" y="924554"/>
            <a:ext cx="1522880" cy="25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Page</a:t>
            </a:r>
            <a:r>
              <a:rPr lang="en-US" sz="186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003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90921EF9-8728-39FC-1B36-6FB8DB0DCB0F}"/>
              </a:ext>
            </a:extLst>
          </p:cNvPr>
          <p:cNvSpPr txBox="1"/>
          <p:nvPr/>
        </p:nvSpPr>
        <p:spPr>
          <a:xfrm>
            <a:off x="7209243" y="934721"/>
            <a:ext cx="1597356" cy="2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Energy Trends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57225E1B-38AE-1468-5108-67395B70032E}"/>
              </a:ext>
            </a:extLst>
          </p:cNvPr>
          <p:cNvSpPr txBox="1"/>
          <p:nvPr/>
        </p:nvSpPr>
        <p:spPr>
          <a:xfrm>
            <a:off x="9018812" y="934721"/>
            <a:ext cx="15973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Premium Listings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CB5FE6D5-849B-3A24-86C9-60308C94CEA6}"/>
              </a:ext>
            </a:extLst>
          </p:cNvPr>
          <p:cNvSpPr txBox="1"/>
          <p:nvPr/>
        </p:nvSpPr>
        <p:spPr>
          <a:xfrm>
            <a:off x="4603428" y="934721"/>
            <a:ext cx="2406972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Neighborhood Deep Dive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9E6BF7-79B5-CFA0-771C-F131EAA36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709" y="1685421"/>
            <a:ext cx="8821381" cy="3810532"/>
          </a:xfrm>
          <a:prstGeom prst="rect">
            <a:avLst/>
          </a:prstGeom>
        </p:spPr>
      </p:pic>
      <p:sp>
        <p:nvSpPr>
          <p:cNvPr id="4" name="Freeform 19">
            <a:extLst>
              <a:ext uri="{FF2B5EF4-FFF2-40B4-BE49-F238E27FC236}">
                <a16:creationId xmlns:a16="http://schemas.microsoft.com/office/drawing/2014/main" id="{95B8184A-2163-F06B-C6D2-555A0BF31216}"/>
              </a:ext>
            </a:extLst>
          </p:cNvPr>
          <p:cNvSpPr/>
          <p:nvPr/>
        </p:nvSpPr>
        <p:spPr>
          <a:xfrm>
            <a:off x="6324600" y="5600701"/>
            <a:ext cx="9961801" cy="4114800"/>
          </a:xfrm>
          <a:custGeom>
            <a:avLst/>
            <a:gdLst/>
            <a:ahLst/>
            <a:cxnLst/>
            <a:rect l="l" t="t" r="r" b="b"/>
            <a:pathLst>
              <a:path w="1043190" h="774835">
                <a:moveTo>
                  <a:pt x="41047" y="0"/>
                </a:moveTo>
                <a:lnTo>
                  <a:pt x="1002143" y="0"/>
                </a:lnTo>
                <a:cubicBezTo>
                  <a:pt x="1013029" y="0"/>
                  <a:pt x="1023470" y="4325"/>
                  <a:pt x="1031167" y="12022"/>
                </a:cubicBezTo>
                <a:cubicBezTo>
                  <a:pt x="1038865" y="19720"/>
                  <a:pt x="1043190" y="30160"/>
                  <a:pt x="1043190" y="41047"/>
                </a:cubicBezTo>
                <a:lnTo>
                  <a:pt x="1043190" y="733789"/>
                </a:lnTo>
                <a:cubicBezTo>
                  <a:pt x="1043190" y="756458"/>
                  <a:pt x="1024812" y="774835"/>
                  <a:pt x="1002143" y="774835"/>
                </a:cubicBezTo>
                <a:lnTo>
                  <a:pt x="41047" y="774835"/>
                </a:lnTo>
                <a:cubicBezTo>
                  <a:pt x="30160" y="774835"/>
                  <a:pt x="19720" y="770511"/>
                  <a:pt x="12022" y="762813"/>
                </a:cubicBezTo>
                <a:cubicBezTo>
                  <a:pt x="4325" y="755115"/>
                  <a:pt x="0" y="744675"/>
                  <a:pt x="0" y="733789"/>
                </a:cubicBezTo>
                <a:lnTo>
                  <a:pt x="0" y="41047"/>
                </a:lnTo>
                <a:cubicBezTo>
                  <a:pt x="0" y="30160"/>
                  <a:pt x="4325" y="19720"/>
                  <a:pt x="12022" y="12022"/>
                </a:cubicBezTo>
                <a:cubicBezTo>
                  <a:pt x="19720" y="4325"/>
                  <a:pt x="30160" y="0"/>
                  <a:pt x="41047" y="0"/>
                </a:cubicBezTo>
                <a:close/>
              </a:path>
            </a:pathLst>
          </a:custGeom>
          <a:ln w="28575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6CB0C3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23B1A8-05BE-4EB2-AB32-3C44E584FC4A}"/>
              </a:ext>
            </a:extLst>
          </p:cNvPr>
          <p:cNvSpPr txBox="1"/>
          <p:nvPr/>
        </p:nvSpPr>
        <p:spPr>
          <a:xfrm>
            <a:off x="6477000" y="5977100"/>
            <a:ext cx="9677400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Market Still Dominated by Legacy Inefficiency:</a:t>
            </a:r>
          </a:p>
          <a:p>
            <a:r>
              <a:rPr lang="en-GB" sz="2000" dirty="0">
                <a:solidFill>
                  <a:schemeClr val="bg1"/>
                </a:solidFill>
              </a:rPr>
              <a:t>The donut chart shows that nearly </a:t>
            </a:r>
            <a:r>
              <a:rPr lang="en-GB" sz="2000" b="1" dirty="0">
                <a:solidFill>
                  <a:schemeClr val="bg1"/>
                </a:solidFill>
              </a:rPr>
              <a:t>60% of the entire housing stock</a:t>
            </a:r>
            <a:r>
              <a:rPr lang="en-GB" sz="2000" dirty="0">
                <a:solidFill>
                  <a:schemeClr val="bg1"/>
                </a:solidFill>
              </a:rPr>
              <a:t> remains trapped in highly inefficient categories (</a:t>
            </a:r>
            <a:r>
              <a:rPr lang="en-GB" sz="2000" b="1" dirty="0">
                <a:solidFill>
                  <a:schemeClr val="bg1"/>
                </a:solidFill>
              </a:rPr>
              <a:t>D, E, and F</a:t>
            </a:r>
            <a:r>
              <a:rPr lang="en-GB" sz="2000" dirty="0">
                <a:solidFill>
                  <a:schemeClr val="bg1"/>
                </a:solidFill>
              </a:rPr>
              <a:t> combined). Top-tier A and A+ properties represent just a tiny fraction of the total distribution (3.82% and approximately 2%, respectively).</a:t>
            </a:r>
          </a:p>
          <a:p>
            <a:endParaRPr lang="en-GB" sz="2800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</a:rPr>
              <a:t>Renovations Target the Pragmatic "B" Baseline:</a:t>
            </a:r>
          </a:p>
          <a:p>
            <a:r>
              <a:rPr lang="en-GB" sz="2000" dirty="0">
                <a:solidFill>
                  <a:schemeClr val="bg1"/>
                </a:solidFill>
              </a:rPr>
              <a:t>The line chart reveals that while high-efficiency renovations peaked in 2025, owners are overwhelmingly upgrading properties to </a:t>
            </a:r>
            <a:r>
              <a:rPr lang="en-GB" sz="2000" b="1" dirty="0">
                <a:solidFill>
                  <a:schemeClr val="bg1"/>
                </a:solidFill>
              </a:rPr>
              <a:t>Class B</a:t>
            </a:r>
            <a:r>
              <a:rPr lang="en-GB" sz="2000" dirty="0">
                <a:solidFill>
                  <a:schemeClr val="bg1"/>
                </a:solidFill>
              </a:rPr>
              <a:t> rather than pushing for A or A+. This highlights a cost-effective strategy: lifting older, inefficient Athens blocks up to a comfortable, modern baseline without the extreme expense of a full A+ overhaul.</a:t>
            </a:r>
          </a:p>
          <a:p>
            <a:endParaRPr lang="en-GB" dirty="0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D9F21BF2-C4F4-789A-07A8-F2FD476C2465}"/>
              </a:ext>
            </a:extLst>
          </p:cNvPr>
          <p:cNvSpPr txBox="1"/>
          <p:nvPr/>
        </p:nvSpPr>
        <p:spPr>
          <a:xfrm>
            <a:off x="2650291" y="934721"/>
            <a:ext cx="1636464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 panose="020B0604020202020204" charset="0"/>
                <a:ea typeface="TT Norms"/>
                <a:cs typeface="TT Norms"/>
                <a:sym typeface="TT Norms"/>
              </a:rPr>
              <a:t>Market Overview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31284439-8BD2-369C-236F-47CC5107D591}"/>
              </a:ext>
            </a:extLst>
          </p:cNvPr>
          <p:cNvSpPr txBox="1"/>
          <p:nvPr/>
        </p:nvSpPr>
        <p:spPr>
          <a:xfrm>
            <a:off x="10952396" y="934721"/>
            <a:ext cx="261120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Smart Investor</a:t>
            </a: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D60D4DA9-3A29-9436-2990-83BBFAE8B9C3}"/>
              </a:ext>
            </a:extLst>
          </p:cNvPr>
          <p:cNvSpPr/>
          <p:nvPr/>
        </p:nvSpPr>
        <p:spPr>
          <a:xfrm rot="10800000">
            <a:off x="13421138" y="854784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622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8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xit" presetSubtype="8" accel="8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/>
      <p:bldP spid="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1AEC67-364F-000B-20B6-08B23EFC3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1181F4D-D7E4-5DAF-D4C2-7E81364CA398}"/>
              </a:ext>
            </a:extLst>
          </p:cNvPr>
          <p:cNvSpPr/>
          <p:nvPr/>
        </p:nvSpPr>
        <p:spPr>
          <a:xfrm>
            <a:off x="1818269" y="846268"/>
            <a:ext cx="516732" cy="381898"/>
          </a:xfrm>
          <a:custGeom>
            <a:avLst/>
            <a:gdLst/>
            <a:ahLst/>
            <a:cxnLst/>
            <a:rect l="l" t="t" r="r" b="b"/>
            <a:pathLst>
              <a:path w="516732" h="381898">
                <a:moveTo>
                  <a:pt x="0" y="0"/>
                </a:moveTo>
                <a:lnTo>
                  <a:pt x="516733" y="0"/>
                </a:lnTo>
                <a:lnTo>
                  <a:pt x="516733" y="381898"/>
                </a:lnTo>
                <a:lnTo>
                  <a:pt x="0" y="381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3729547-4B57-8AA9-371B-46579EE1ED40}"/>
              </a:ext>
            </a:extLst>
          </p:cNvPr>
          <p:cNvSpPr/>
          <p:nvPr/>
        </p:nvSpPr>
        <p:spPr>
          <a:xfrm>
            <a:off x="14355033" y="858669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953F961-5AAC-5C2F-768C-8B136A66198F}"/>
              </a:ext>
            </a:extLst>
          </p:cNvPr>
          <p:cNvSpPr txBox="1"/>
          <p:nvPr/>
        </p:nvSpPr>
        <p:spPr>
          <a:xfrm>
            <a:off x="15935932" y="924554"/>
            <a:ext cx="1522880" cy="25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Page</a:t>
            </a:r>
            <a:r>
              <a:rPr lang="en-US" sz="186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004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2CA56D26-CE2E-BD60-B081-8FE684DE9D5A}"/>
              </a:ext>
            </a:extLst>
          </p:cNvPr>
          <p:cNvSpPr txBox="1"/>
          <p:nvPr/>
        </p:nvSpPr>
        <p:spPr>
          <a:xfrm>
            <a:off x="8880550" y="934721"/>
            <a:ext cx="1873878" cy="2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Premium Listings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562B0AD-7D6B-3248-DCF6-F1FA516F9116}"/>
              </a:ext>
            </a:extLst>
          </p:cNvPr>
          <p:cNvSpPr txBox="1"/>
          <p:nvPr/>
        </p:nvSpPr>
        <p:spPr>
          <a:xfrm>
            <a:off x="2650291" y="934721"/>
            <a:ext cx="1636464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 panose="020B0604020202020204" charset="0"/>
                <a:ea typeface="TT Norms"/>
                <a:cs typeface="TT Norms"/>
                <a:sym typeface="TT Norms"/>
              </a:rPr>
              <a:t>Market Overview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056BC182-466B-8F3C-FE80-8888AC1B2490}"/>
              </a:ext>
            </a:extLst>
          </p:cNvPr>
          <p:cNvSpPr txBox="1"/>
          <p:nvPr/>
        </p:nvSpPr>
        <p:spPr>
          <a:xfrm>
            <a:off x="4603428" y="934721"/>
            <a:ext cx="2406972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Neighborhood Deep Dive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8371DD28-813D-4B51-9142-FEC47975B3D9}"/>
              </a:ext>
            </a:extLst>
          </p:cNvPr>
          <p:cNvSpPr txBox="1"/>
          <p:nvPr/>
        </p:nvSpPr>
        <p:spPr>
          <a:xfrm>
            <a:off x="7346628" y="934721"/>
            <a:ext cx="13359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Energy Trends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97785A-A01E-4416-0733-D4299320C3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709" y="1685421"/>
            <a:ext cx="7754432" cy="42868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8CDCB5-5042-1949-9CA1-A0571B16AC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2424" y="1685421"/>
            <a:ext cx="6516009" cy="4286848"/>
          </a:xfrm>
          <a:prstGeom prst="rect">
            <a:avLst/>
          </a:prstGeom>
        </p:spPr>
      </p:pic>
      <p:sp>
        <p:nvSpPr>
          <p:cNvPr id="12" name="Freeform 19">
            <a:extLst>
              <a:ext uri="{FF2B5EF4-FFF2-40B4-BE49-F238E27FC236}">
                <a16:creationId xmlns:a16="http://schemas.microsoft.com/office/drawing/2014/main" id="{BE529F03-3899-0C77-E38F-B00DA9732E35}"/>
              </a:ext>
            </a:extLst>
          </p:cNvPr>
          <p:cNvSpPr/>
          <p:nvPr/>
        </p:nvSpPr>
        <p:spPr>
          <a:xfrm>
            <a:off x="1905000" y="6057900"/>
            <a:ext cx="14358724" cy="3657168"/>
          </a:xfrm>
          <a:custGeom>
            <a:avLst/>
            <a:gdLst/>
            <a:ahLst/>
            <a:cxnLst/>
            <a:rect l="l" t="t" r="r" b="b"/>
            <a:pathLst>
              <a:path w="1043190" h="774835">
                <a:moveTo>
                  <a:pt x="41047" y="0"/>
                </a:moveTo>
                <a:lnTo>
                  <a:pt x="1002143" y="0"/>
                </a:lnTo>
                <a:cubicBezTo>
                  <a:pt x="1013029" y="0"/>
                  <a:pt x="1023470" y="4325"/>
                  <a:pt x="1031167" y="12022"/>
                </a:cubicBezTo>
                <a:cubicBezTo>
                  <a:pt x="1038865" y="19720"/>
                  <a:pt x="1043190" y="30160"/>
                  <a:pt x="1043190" y="41047"/>
                </a:cubicBezTo>
                <a:lnTo>
                  <a:pt x="1043190" y="733789"/>
                </a:lnTo>
                <a:cubicBezTo>
                  <a:pt x="1043190" y="756458"/>
                  <a:pt x="1024812" y="774835"/>
                  <a:pt x="1002143" y="774835"/>
                </a:cubicBezTo>
                <a:lnTo>
                  <a:pt x="41047" y="774835"/>
                </a:lnTo>
                <a:cubicBezTo>
                  <a:pt x="30160" y="774835"/>
                  <a:pt x="19720" y="770511"/>
                  <a:pt x="12022" y="762813"/>
                </a:cubicBezTo>
                <a:cubicBezTo>
                  <a:pt x="4325" y="755115"/>
                  <a:pt x="0" y="744675"/>
                  <a:pt x="0" y="733789"/>
                </a:cubicBezTo>
                <a:lnTo>
                  <a:pt x="0" y="41047"/>
                </a:lnTo>
                <a:cubicBezTo>
                  <a:pt x="0" y="30160"/>
                  <a:pt x="4325" y="19720"/>
                  <a:pt x="12022" y="12022"/>
                </a:cubicBezTo>
                <a:cubicBezTo>
                  <a:pt x="19720" y="4325"/>
                  <a:pt x="30160" y="0"/>
                  <a:pt x="41047" y="0"/>
                </a:cubicBezTo>
                <a:close/>
              </a:path>
            </a:pathLst>
          </a:custGeom>
          <a:ln w="28575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6CB0C3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C2BF20-5DAF-409B-75DE-D457C605EAD7}"/>
              </a:ext>
            </a:extLst>
          </p:cNvPr>
          <p:cNvSpPr txBox="1"/>
          <p:nvPr/>
        </p:nvSpPr>
        <p:spPr>
          <a:xfrm>
            <a:off x="2095500" y="6353601"/>
            <a:ext cx="1409700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The Historic </a:t>
            </a:r>
            <a:r>
              <a:rPr lang="en-GB" sz="2000" b="1" dirty="0" err="1">
                <a:solidFill>
                  <a:schemeClr val="bg1"/>
                </a:solidFill>
              </a:rPr>
              <a:t>Center</a:t>
            </a:r>
            <a:r>
              <a:rPr lang="en-GB" sz="2000" b="1" dirty="0">
                <a:solidFill>
                  <a:schemeClr val="bg1"/>
                </a:solidFill>
              </a:rPr>
              <a:t> Commands the Ultimate Luxury Premium:</a:t>
            </a:r>
          </a:p>
          <a:p>
            <a:r>
              <a:rPr lang="en-GB" sz="2000" dirty="0">
                <a:solidFill>
                  <a:schemeClr val="bg1"/>
                </a:solidFill>
              </a:rPr>
              <a:t>When isolating the absolute highest-priced tier of the market, the </a:t>
            </a:r>
            <a:r>
              <a:rPr lang="en-GB" sz="2000" b="1" dirty="0">
                <a:solidFill>
                  <a:schemeClr val="bg1"/>
                </a:solidFill>
              </a:rPr>
              <a:t>Historic </a:t>
            </a:r>
            <a:r>
              <a:rPr lang="en-GB" sz="2000" b="1" dirty="0" err="1">
                <a:solidFill>
                  <a:schemeClr val="bg1"/>
                </a:solidFill>
              </a:rPr>
              <a:t>Center</a:t>
            </a:r>
            <a:r>
              <a:rPr lang="en-GB" sz="2000" dirty="0">
                <a:solidFill>
                  <a:schemeClr val="bg1"/>
                </a:solidFill>
              </a:rPr>
              <a:t> dramatically shifts to the top spot, reaching a massive median price of </a:t>
            </a:r>
            <a:r>
              <a:rPr lang="en-GB" sz="2000" b="1" dirty="0">
                <a:solidFill>
                  <a:schemeClr val="bg1"/>
                </a:solidFill>
              </a:rPr>
              <a:t>16.8K per square meter</a:t>
            </a:r>
            <a:r>
              <a:rPr lang="en-GB" sz="2000" dirty="0">
                <a:solidFill>
                  <a:schemeClr val="bg1"/>
                </a:solidFill>
              </a:rPr>
              <a:t>—substantially outperforming </a:t>
            </a:r>
            <a:r>
              <a:rPr lang="en-GB" sz="2000" dirty="0" err="1">
                <a:solidFill>
                  <a:schemeClr val="bg1"/>
                </a:solidFill>
              </a:rPr>
              <a:t>Kolonaki-Lykavittos</a:t>
            </a:r>
            <a:r>
              <a:rPr lang="en-GB" sz="2000" dirty="0">
                <a:solidFill>
                  <a:schemeClr val="bg1"/>
                </a:solidFill>
              </a:rPr>
              <a:t> (~13K) and sitting nearly four times higher than the premium market median (4.56K).</a:t>
            </a:r>
          </a:p>
          <a:p>
            <a:endParaRPr lang="en-GB" sz="2800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</a:rPr>
              <a:t>Tight Geographic Clustering Around Transit Core:</a:t>
            </a:r>
          </a:p>
          <a:p>
            <a:r>
              <a:rPr lang="en-GB" sz="2000" dirty="0">
                <a:solidFill>
                  <a:schemeClr val="bg1"/>
                </a:solidFill>
              </a:rPr>
              <a:t>The geographic mapping shows that premium listings are not randomly scattered across the municipality; they form a dense, high-concentration corridor tightly wrapped around the central metro station nodes, indicating that central transit accessibility remains a mandatory baseline requirement for luxury pricing.</a:t>
            </a:r>
          </a:p>
          <a:p>
            <a:endParaRPr lang="en-GB" sz="1000" dirty="0"/>
          </a:p>
          <a:p>
            <a:endParaRPr lang="en-GB" sz="2000" dirty="0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45E88DCD-55EA-7FCE-C66C-E12F049C6CB5}"/>
              </a:ext>
            </a:extLst>
          </p:cNvPr>
          <p:cNvSpPr txBox="1"/>
          <p:nvPr/>
        </p:nvSpPr>
        <p:spPr>
          <a:xfrm>
            <a:off x="10952396" y="934721"/>
            <a:ext cx="261120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Smart Investor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557F6D-B3F9-6A5C-300A-545257F3EC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407" y="6052326"/>
            <a:ext cx="14327599" cy="365811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ABE8620-D610-B15E-3499-4D54DD272D0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2424" y="1684245"/>
            <a:ext cx="6516009" cy="4296375"/>
          </a:xfrm>
          <a:prstGeom prst="rect">
            <a:avLst/>
          </a:prstGeom>
        </p:spPr>
      </p:pic>
      <p:sp>
        <p:nvSpPr>
          <p:cNvPr id="19" name="Freeform 3">
            <a:extLst>
              <a:ext uri="{FF2B5EF4-FFF2-40B4-BE49-F238E27FC236}">
                <a16:creationId xmlns:a16="http://schemas.microsoft.com/office/drawing/2014/main" id="{2F958A03-56BA-9A24-7F32-4D997D483B98}"/>
              </a:ext>
            </a:extLst>
          </p:cNvPr>
          <p:cNvSpPr/>
          <p:nvPr/>
        </p:nvSpPr>
        <p:spPr>
          <a:xfrm rot="10800000">
            <a:off x="13421138" y="854784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976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accel="8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2" accel="8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" presetClass="exit" presetSubtype="2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4" grpId="0"/>
      <p:bldP spid="1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960BC4-C650-ED09-B0FD-1598B5F55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5695CC-5F45-4C9E-7053-0EA7451BC3D5}"/>
              </a:ext>
            </a:extLst>
          </p:cNvPr>
          <p:cNvSpPr/>
          <p:nvPr/>
        </p:nvSpPr>
        <p:spPr>
          <a:xfrm>
            <a:off x="1818269" y="846268"/>
            <a:ext cx="516732" cy="381898"/>
          </a:xfrm>
          <a:custGeom>
            <a:avLst/>
            <a:gdLst/>
            <a:ahLst/>
            <a:cxnLst/>
            <a:rect l="l" t="t" r="r" b="b"/>
            <a:pathLst>
              <a:path w="516732" h="381898">
                <a:moveTo>
                  <a:pt x="0" y="0"/>
                </a:moveTo>
                <a:lnTo>
                  <a:pt x="516733" y="0"/>
                </a:lnTo>
                <a:lnTo>
                  <a:pt x="516733" y="381898"/>
                </a:lnTo>
                <a:lnTo>
                  <a:pt x="0" y="381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7AEBD36-1299-35D5-0054-1DD9B9FC5F09}"/>
              </a:ext>
            </a:extLst>
          </p:cNvPr>
          <p:cNvSpPr/>
          <p:nvPr/>
        </p:nvSpPr>
        <p:spPr>
          <a:xfrm>
            <a:off x="14355033" y="858669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CED55F4-A452-6488-4C8D-3BD508F0F12A}"/>
              </a:ext>
            </a:extLst>
          </p:cNvPr>
          <p:cNvSpPr txBox="1"/>
          <p:nvPr/>
        </p:nvSpPr>
        <p:spPr>
          <a:xfrm>
            <a:off x="15935932" y="924554"/>
            <a:ext cx="1522880" cy="25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Page</a:t>
            </a:r>
            <a:r>
              <a:rPr lang="en-US" sz="186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004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F5458876-6912-3353-A0CC-0FB081A68ED2}"/>
              </a:ext>
            </a:extLst>
          </p:cNvPr>
          <p:cNvSpPr txBox="1"/>
          <p:nvPr/>
        </p:nvSpPr>
        <p:spPr>
          <a:xfrm>
            <a:off x="8880550" y="934721"/>
            <a:ext cx="1873878" cy="2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Premium Listings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56AD92A7-7265-6423-60C3-DCAA5FF649D1}"/>
              </a:ext>
            </a:extLst>
          </p:cNvPr>
          <p:cNvSpPr txBox="1"/>
          <p:nvPr/>
        </p:nvSpPr>
        <p:spPr>
          <a:xfrm>
            <a:off x="2650291" y="934721"/>
            <a:ext cx="1636464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 panose="020B0604020202020204" charset="0"/>
                <a:ea typeface="TT Norms"/>
                <a:cs typeface="TT Norms"/>
                <a:sym typeface="TT Norms"/>
              </a:rPr>
              <a:t>Market Overview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6C878AF8-58C4-066F-F0D7-8AD5FE1A08EE}"/>
              </a:ext>
            </a:extLst>
          </p:cNvPr>
          <p:cNvSpPr txBox="1"/>
          <p:nvPr/>
        </p:nvSpPr>
        <p:spPr>
          <a:xfrm>
            <a:off x="4603428" y="934721"/>
            <a:ext cx="2406972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Neighborhood Deep Dive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822A73EE-C8AC-D089-A03B-A47FCCE3141A}"/>
              </a:ext>
            </a:extLst>
          </p:cNvPr>
          <p:cNvSpPr txBox="1"/>
          <p:nvPr/>
        </p:nvSpPr>
        <p:spPr>
          <a:xfrm>
            <a:off x="7346628" y="934721"/>
            <a:ext cx="13359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Energy Trends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1D279C-B9E9-6082-3DA9-395B7C65B4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709" y="1685421"/>
            <a:ext cx="7754432" cy="4286848"/>
          </a:xfrm>
          <a:prstGeom prst="rect">
            <a:avLst/>
          </a:prstGeom>
        </p:spPr>
      </p:pic>
      <p:sp>
        <p:nvSpPr>
          <p:cNvPr id="12" name="Freeform 19">
            <a:extLst>
              <a:ext uri="{FF2B5EF4-FFF2-40B4-BE49-F238E27FC236}">
                <a16:creationId xmlns:a16="http://schemas.microsoft.com/office/drawing/2014/main" id="{1C75C09F-B86E-6AB6-1509-5F4DAAD49B1D}"/>
              </a:ext>
            </a:extLst>
          </p:cNvPr>
          <p:cNvSpPr/>
          <p:nvPr/>
        </p:nvSpPr>
        <p:spPr>
          <a:xfrm>
            <a:off x="1905000" y="6057900"/>
            <a:ext cx="14358724" cy="3657168"/>
          </a:xfrm>
          <a:custGeom>
            <a:avLst/>
            <a:gdLst/>
            <a:ahLst/>
            <a:cxnLst/>
            <a:rect l="l" t="t" r="r" b="b"/>
            <a:pathLst>
              <a:path w="1043190" h="774835">
                <a:moveTo>
                  <a:pt x="41047" y="0"/>
                </a:moveTo>
                <a:lnTo>
                  <a:pt x="1002143" y="0"/>
                </a:lnTo>
                <a:cubicBezTo>
                  <a:pt x="1013029" y="0"/>
                  <a:pt x="1023470" y="4325"/>
                  <a:pt x="1031167" y="12022"/>
                </a:cubicBezTo>
                <a:cubicBezTo>
                  <a:pt x="1038865" y="19720"/>
                  <a:pt x="1043190" y="30160"/>
                  <a:pt x="1043190" y="41047"/>
                </a:cubicBezTo>
                <a:lnTo>
                  <a:pt x="1043190" y="733789"/>
                </a:lnTo>
                <a:cubicBezTo>
                  <a:pt x="1043190" y="756458"/>
                  <a:pt x="1024812" y="774835"/>
                  <a:pt x="1002143" y="774835"/>
                </a:cubicBezTo>
                <a:lnTo>
                  <a:pt x="41047" y="774835"/>
                </a:lnTo>
                <a:cubicBezTo>
                  <a:pt x="30160" y="774835"/>
                  <a:pt x="19720" y="770511"/>
                  <a:pt x="12022" y="762813"/>
                </a:cubicBezTo>
                <a:cubicBezTo>
                  <a:pt x="4325" y="755115"/>
                  <a:pt x="0" y="744675"/>
                  <a:pt x="0" y="733789"/>
                </a:cubicBezTo>
                <a:lnTo>
                  <a:pt x="0" y="41047"/>
                </a:lnTo>
                <a:cubicBezTo>
                  <a:pt x="0" y="30160"/>
                  <a:pt x="4325" y="19720"/>
                  <a:pt x="12022" y="12022"/>
                </a:cubicBezTo>
                <a:cubicBezTo>
                  <a:pt x="19720" y="4325"/>
                  <a:pt x="30160" y="0"/>
                  <a:pt x="41047" y="0"/>
                </a:cubicBezTo>
                <a:close/>
              </a:path>
            </a:pathLst>
          </a:custGeom>
          <a:ln w="28575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6CB0C3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B3D72C-3BEB-38AE-9B60-0D2BB44C7DB8}"/>
              </a:ext>
            </a:extLst>
          </p:cNvPr>
          <p:cNvSpPr txBox="1"/>
          <p:nvPr/>
        </p:nvSpPr>
        <p:spPr>
          <a:xfrm>
            <a:off x="2095500" y="6113957"/>
            <a:ext cx="14097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Infrastructure Anticipation Pricing:</a:t>
            </a:r>
          </a:p>
          <a:p>
            <a:r>
              <a:rPr lang="en-GB" sz="2000" dirty="0">
                <a:solidFill>
                  <a:schemeClr val="bg1"/>
                </a:solidFill>
              </a:rPr>
              <a:t>High-density luxury clusters are forming ahead of schedule around under-construction hubs like </a:t>
            </a:r>
            <a:r>
              <a:rPr lang="en-GB" sz="2000" b="1" dirty="0" err="1">
                <a:solidFill>
                  <a:schemeClr val="bg1"/>
                </a:solidFill>
              </a:rPr>
              <a:t>Exarcheia</a:t>
            </a:r>
            <a:r>
              <a:rPr lang="en-GB" sz="2000" b="1" dirty="0">
                <a:solidFill>
                  <a:schemeClr val="bg1"/>
                </a:solidFill>
              </a:rPr>
              <a:t>, </a:t>
            </a:r>
            <a:r>
              <a:rPr lang="en-GB" sz="2000" b="1" dirty="0" err="1">
                <a:solidFill>
                  <a:schemeClr val="bg1"/>
                </a:solidFill>
              </a:rPr>
              <a:t>Akadimia</a:t>
            </a:r>
            <a:r>
              <a:rPr lang="en-GB" sz="2000" b="1" dirty="0">
                <a:solidFill>
                  <a:schemeClr val="bg1"/>
                </a:solidFill>
              </a:rPr>
              <a:t>, and </a:t>
            </a:r>
            <a:r>
              <a:rPr lang="en-GB" sz="2000" b="1" dirty="0" err="1">
                <a:solidFill>
                  <a:schemeClr val="bg1"/>
                </a:solidFill>
              </a:rPr>
              <a:t>Kolonaki</a:t>
            </a:r>
            <a:r>
              <a:rPr lang="en-GB" sz="2000" dirty="0">
                <a:solidFill>
                  <a:schemeClr val="bg1"/>
                </a:solidFill>
              </a:rPr>
              <a:t>, as buyers price in future transit connectivity long before the new stations of Line 4 open.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</a:rPr>
              <a:t>Luxury Core Expanding Outward:</a:t>
            </a:r>
          </a:p>
          <a:p>
            <a:r>
              <a:rPr lang="en-GB" sz="2000" dirty="0">
                <a:solidFill>
                  <a:schemeClr val="bg1"/>
                </a:solidFill>
              </a:rPr>
              <a:t>Traditional luxury pricing is bleeding beyond the Historic </a:t>
            </a:r>
            <a:r>
              <a:rPr lang="en-GB" sz="2000" dirty="0" err="1">
                <a:solidFill>
                  <a:schemeClr val="bg1"/>
                </a:solidFill>
              </a:rPr>
              <a:t>Center</a:t>
            </a:r>
            <a:r>
              <a:rPr lang="en-GB" sz="2000" dirty="0">
                <a:solidFill>
                  <a:schemeClr val="bg1"/>
                </a:solidFill>
              </a:rPr>
              <a:t>. The construction footprint explains why premium listings are expanding into </a:t>
            </a:r>
            <a:r>
              <a:rPr lang="en-GB" sz="2000" b="1" dirty="0" err="1">
                <a:solidFill>
                  <a:schemeClr val="bg1"/>
                </a:solidFill>
              </a:rPr>
              <a:t>Pangrati</a:t>
            </a:r>
            <a:r>
              <a:rPr lang="en-GB" sz="2000" b="1" dirty="0">
                <a:solidFill>
                  <a:schemeClr val="bg1"/>
                </a:solidFill>
              </a:rPr>
              <a:t>, Mets, and the fringes of </a:t>
            </a:r>
            <a:r>
              <a:rPr lang="en-GB" sz="2000" b="1" dirty="0" err="1">
                <a:solidFill>
                  <a:schemeClr val="bg1"/>
                </a:solidFill>
              </a:rPr>
              <a:t>Kypseli</a:t>
            </a:r>
            <a:r>
              <a:rPr lang="en-GB" sz="2000" b="1" dirty="0">
                <a:solidFill>
                  <a:schemeClr val="bg1"/>
                </a:solidFill>
              </a:rPr>
              <a:t>/</a:t>
            </a:r>
            <a:r>
              <a:rPr lang="en-GB" sz="2000" b="1" dirty="0" err="1">
                <a:solidFill>
                  <a:schemeClr val="bg1"/>
                </a:solidFill>
              </a:rPr>
              <a:t>Dikastiria</a:t>
            </a:r>
            <a:r>
              <a:rPr lang="en-GB" sz="2000" dirty="0">
                <a:solidFill>
                  <a:schemeClr val="bg1"/>
                </a:solidFill>
              </a:rPr>
              <a:t>, converting secondary zones into premium extensions.</a:t>
            </a:r>
          </a:p>
          <a:p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b="1" dirty="0">
                <a:solidFill>
                  <a:schemeClr val="bg1"/>
                </a:solidFill>
              </a:rPr>
              <a:t>Transit Nodes as Valuation Anchors:</a:t>
            </a:r>
            <a:endParaRPr lang="en-GB" sz="2000" dirty="0">
              <a:solidFill>
                <a:schemeClr val="bg1"/>
              </a:solidFill>
            </a:endParaRPr>
          </a:p>
          <a:p>
            <a:r>
              <a:rPr lang="en-GB" sz="2000" dirty="0">
                <a:solidFill>
                  <a:schemeClr val="bg1"/>
                </a:solidFill>
              </a:rPr>
              <a:t>Proximity to the incoming Line 4 network is functioning as a major asset anchor. High-end investors are targeting older residential blocks within walking distance of planned stations for premium renovations to capture an immediate location markup.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17ED5A4-4282-C174-7640-20871A65B7AD}"/>
              </a:ext>
            </a:extLst>
          </p:cNvPr>
          <p:cNvGrpSpPr/>
          <p:nvPr/>
        </p:nvGrpSpPr>
        <p:grpSpPr>
          <a:xfrm>
            <a:off x="9747082" y="1685421"/>
            <a:ext cx="6516642" cy="4286848"/>
            <a:chOff x="9747082" y="1685421"/>
            <a:chExt cx="6445418" cy="4286848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C89EB1FD-FFC0-A73C-9D42-24DE116EF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7082" y="1685421"/>
              <a:ext cx="6445418" cy="4286848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F3ABF3A5-86DE-CF79-C852-155681F5E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7491" y="1749172"/>
              <a:ext cx="6324600" cy="838200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43C7432A-3361-9703-453F-16456A21BDC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7491" y="2587372"/>
              <a:ext cx="6324600" cy="3318128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C3B6094-F09F-1BD8-8C18-6A95E1D4AEB1}"/>
              </a:ext>
            </a:extLst>
          </p:cNvPr>
          <p:cNvGrpSpPr/>
          <p:nvPr/>
        </p:nvGrpSpPr>
        <p:grpSpPr>
          <a:xfrm>
            <a:off x="5568865" y="3252788"/>
            <a:ext cx="1432274" cy="2400300"/>
            <a:chOff x="5568865" y="3252788"/>
            <a:chExt cx="1432274" cy="2400300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65120AA5-05C2-E522-AEC9-3FB26E435415}"/>
                </a:ext>
              </a:extLst>
            </p:cNvPr>
            <p:cNvGrpSpPr/>
            <p:nvPr/>
          </p:nvGrpSpPr>
          <p:grpSpPr>
            <a:xfrm>
              <a:off x="5568865" y="3252788"/>
              <a:ext cx="1432274" cy="2400300"/>
              <a:chOff x="5568865" y="3252788"/>
              <a:chExt cx="1432274" cy="2400300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74BB400B-3416-8A99-3011-BDD914793FF2}"/>
                  </a:ext>
                </a:extLst>
              </p:cNvPr>
              <p:cNvGrpSpPr/>
              <p:nvPr/>
            </p:nvGrpSpPr>
            <p:grpSpPr>
              <a:xfrm>
                <a:off x="5568865" y="3252788"/>
                <a:ext cx="1432274" cy="2400300"/>
                <a:chOff x="5568865" y="3252788"/>
                <a:chExt cx="1432274" cy="2400300"/>
              </a:xfrm>
            </p:grpSpPr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0CBBFF79-804A-413F-EEED-404455B9F5D1}"/>
                    </a:ext>
                  </a:extLst>
                </p:cNvPr>
                <p:cNvGrpSpPr/>
                <p:nvPr/>
              </p:nvGrpSpPr>
              <p:grpSpPr>
                <a:xfrm>
                  <a:off x="5584104" y="3252788"/>
                  <a:ext cx="1417035" cy="2400300"/>
                  <a:chOff x="5584104" y="3252788"/>
                  <a:chExt cx="1417035" cy="2400300"/>
                </a:xfrm>
              </p:grpSpPr>
              <p:sp>
                <p:nvSpPr>
                  <p:cNvPr id="61" name="Free-form: Shape 60">
                    <a:extLst>
                      <a:ext uri="{FF2B5EF4-FFF2-40B4-BE49-F238E27FC236}">
                        <a16:creationId xmlns:a16="http://schemas.microsoft.com/office/drawing/2014/main" id="{9BC84241-436B-D076-31B9-4BAFB782FD4A}"/>
                      </a:ext>
                    </a:extLst>
                  </p:cNvPr>
                  <p:cNvSpPr/>
                  <p:nvPr/>
                </p:nvSpPr>
                <p:spPr>
                  <a:xfrm>
                    <a:off x="5584104" y="3252788"/>
                    <a:ext cx="446065" cy="2400300"/>
                  </a:xfrm>
                  <a:custGeom>
                    <a:avLst/>
                    <a:gdLst>
                      <a:gd name="csX0" fmla="*/ 423863 w 423863"/>
                      <a:gd name="csY0" fmla="*/ 0 h 2400300"/>
                      <a:gd name="csX1" fmla="*/ 409575 w 423863"/>
                      <a:gd name="csY1" fmla="*/ 23812 h 2400300"/>
                      <a:gd name="csX2" fmla="*/ 404813 w 423863"/>
                      <a:gd name="csY2" fmla="*/ 38100 h 2400300"/>
                      <a:gd name="csX3" fmla="*/ 390525 w 423863"/>
                      <a:gd name="csY3" fmla="*/ 52387 h 2400300"/>
                      <a:gd name="csX4" fmla="*/ 385763 w 423863"/>
                      <a:gd name="csY4" fmla="*/ 71437 h 2400300"/>
                      <a:gd name="csX5" fmla="*/ 371475 w 423863"/>
                      <a:gd name="csY5" fmla="*/ 114300 h 2400300"/>
                      <a:gd name="csX6" fmla="*/ 366713 w 423863"/>
                      <a:gd name="csY6" fmla="*/ 138112 h 2400300"/>
                      <a:gd name="csX7" fmla="*/ 352425 w 423863"/>
                      <a:gd name="csY7" fmla="*/ 152400 h 2400300"/>
                      <a:gd name="csX8" fmla="*/ 342900 w 423863"/>
                      <a:gd name="csY8" fmla="*/ 176212 h 2400300"/>
                      <a:gd name="csX9" fmla="*/ 328613 w 423863"/>
                      <a:gd name="csY9" fmla="*/ 219075 h 2400300"/>
                      <a:gd name="csX10" fmla="*/ 309563 w 423863"/>
                      <a:gd name="csY10" fmla="*/ 257175 h 2400300"/>
                      <a:gd name="csX11" fmla="*/ 304800 w 423863"/>
                      <a:gd name="csY11" fmla="*/ 280987 h 2400300"/>
                      <a:gd name="csX12" fmla="*/ 295275 w 423863"/>
                      <a:gd name="csY12" fmla="*/ 309562 h 2400300"/>
                      <a:gd name="csX13" fmla="*/ 285750 w 423863"/>
                      <a:gd name="csY13" fmla="*/ 347662 h 2400300"/>
                      <a:gd name="csX14" fmla="*/ 280988 w 423863"/>
                      <a:gd name="csY14" fmla="*/ 376237 h 2400300"/>
                      <a:gd name="csX15" fmla="*/ 295275 w 423863"/>
                      <a:gd name="csY15" fmla="*/ 495300 h 2400300"/>
                      <a:gd name="csX16" fmla="*/ 304800 w 423863"/>
                      <a:gd name="csY16" fmla="*/ 514350 h 2400300"/>
                      <a:gd name="csX17" fmla="*/ 319088 w 423863"/>
                      <a:gd name="csY17" fmla="*/ 552450 h 2400300"/>
                      <a:gd name="csX18" fmla="*/ 328613 w 423863"/>
                      <a:gd name="csY18" fmla="*/ 566737 h 2400300"/>
                      <a:gd name="csX19" fmla="*/ 342900 w 423863"/>
                      <a:gd name="csY19" fmla="*/ 604837 h 2400300"/>
                      <a:gd name="csX20" fmla="*/ 347663 w 423863"/>
                      <a:gd name="csY20" fmla="*/ 619125 h 2400300"/>
                      <a:gd name="csX21" fmla="*/ 357188 w 423863"/>
                      <a:gd name="csY21" fmla="*/ 642937 h 2400300"/>
                      <a:gd name="csX22" fmla="*/ 361950 w 423863"/>
                      <a:gd name="csY22" fmla="*/ 666750 h 2400300"/>
                      <a:gd name="csX23" fmla="*/ 371475 w 423863"/>
                      <a:gd name="csY23" fmla="*/ 681037 h 2400300"/>
                      <a:gd name="csX24" fmla="*/ 376238 w 423863"/>
                      <a:gd name="csY24" fmla="*/ 704850 h 2400300"/>
                      <a:gd name="csX25" fmla="*/ 361950 w 423863"/>
                      <a:gd name="csY25" fmla="*/ 857250 h 2400300"/>
                      <a:gd name="csX26" fmla="*/ 347663 w 423863"/>
                      <a:gd name="csY26" fmla="*/ 871537 h 2400300"/>
                      <a:gd name="csX27" fmla="*/ 338138 w 423863"/>
                      <a:gd name="csY27" fmla="*/ 885825 h 2400300"/>
                      <a:gd name="csX28" fmla="*/ 314325 w 423863"/>
                      <a:gd name="csY28" fmla="*/ 919162 h 2400300"/>
                      <a:gd name="csX29" fmla="*/ 304800 w 423863"/>
                      <a:gd name="csY29" fmla="*/ 933450 h 2400300"/>
                      <a:gd name="csX30" fmla="*/ 280988 w 423863"/>
                      <a:gd name="csY30" fmla="*/ 947737 h 2400300"/>
                      <a:gd name="csX31" fmla="*/ 266700 w 423863"/>
                      <a:gd name="csY31" fmla="*/ 962025 h 2400300"/>
                      <a:gd name="csX32" fmla="*/ 228600 w 423863"/>
                      <a:gd name="csY32" fmla="*/ 985837 h 2400300"/>
                      <a:gd name="csX33" fmla="*/ 204788 w 423863"/>
                      <a:gd name="csY33" fmla="*/ 990600 h 2400300"/>
                      <a:gd name="csX34" fmla="*/ 171450 w 423863"/>
                      <a:gd name="csY34" fmla="*/ 1000125 h 2400300"/>
                      <a:gd name="csX35" fmla="*/ 152400 w 423863"/>
                      <a:gd name="csY35" fmla="*/ 1014412 h 2400300"/>
                      <a:gd name="csX36" fmla="*/ 114300 w 423863"/>
                      <a:gd name="csY36" fmla="*/ 1028700 h 2400300"/>
                      <a:gd name="csX37" fmla="*/ 95250 w 423863"/>
                      <a:gd name="csY37" fmla="*/ 1038225 h 2400300"/>
                      <a:gd name="csX38" fmla="*/ 80963 w 423863"/>
                      <a:gd name="csY38" fmla="*/ 1047750 h 2400300"/>
                      <a:gd name="csX39" fmla="*/ 61913 w 423863"/>
                      <a:gd name="csY39" fmla="*/ 1062037 h 2400300"/>
                      <a:gd name="csX40" fmla="*/ 47625 w 423863"/>
                      <a:gd name="csY40" fmla="*/ 1066800 h 2400300"/>
                      <a:gd name="csX41" fmla="*/ 28575 w 423863"/>
                      <a:gd name="csY41" fmla="*/ 1090612 h 2400300"/>
                      <a:gd name="csX42" fmla="*/ 14288 w 423863"/>
                      <a:gd name="csY42" fmla="*/ 1119187 h 2400300"/>
                      <a:gd name="csX43" fmla="*/ 9525 w 423863"/>
                      <a:gd name="csY43" fmla="*/ 1133475 h 2400300"/>
                      <a:gd name="csX44" fmla="*/ 0 w 423863"/>
                      <a:gd name="csY44" fmla="*/ 1176337 h 2400300"/>
                      <a:gd name="csX45" fmla="*/ 4763 w 423863"/>
                      <a:gd name="csY45" fmla="*/ 1281112 h 2400300"/>
                      <a:gd name="csX46" fmla="*/ 23813 w 423863"/>
                      <a:gd name="csY46" fmla="*/ 1319212 h 2400300"/>
                      <a:gd name="csX47" fmla="*/ 38100 w 423863"/>
                      <a:gd name="csY47" fmla="*/ 1338262 h 2400300"/>
                      <a:gd name="csX48" fmla="*/ 47625 w 423863"/>
                      <a:gd name="csY48" fmla="*/ 1352550 h 2400300"/>
                      <a:gd name="csX49" fmla="*/ 61913 w 423863"/>
                      <a:gd name="csY49" fmla="*/ 1362075 h 2400300"/>
                      <a:gd name="csX50" fmla="*/ 76200 w 423863"/>
                      <a:gd name="csY50" fmla="*/ 1376362 h 2400300"/>
                      <a:gd name="csX51" fmla="*/ 142875 w 423863"/>
                      <a:gd name="csY51" fmla="*/ 1395412 h 2400300"/>
                      <a:gd name="csX52" fmla="*/ 185738 w 423863"/>
                      <a:gd name="csY52" fmla="*/ 1414462 h 2400300"/>
                      <a:gd name="csX53" fmla="*/ 209550 w 423863"/>
                      <a:gd name="csY53" fmla="*/ 1423987 h 2400300"/>
                      <a:gd name="csX54" fmla="*/ 266700 w 423863"/>
                      <a:gd name="csY54" fmla="*/ 1476375 h 2400300"/>
                      <a:gd name="csX55" fmla="*/ 285750 w 423863"/>
                      <a:gd name="csY55" fmla="*/ 1495425 h 2400300"/>
                      <a:gd name="csX56" fmla="*/ 300038 w 423863"/>
                      <a:gd name="csY56" fmla="*/ 1509712 h 2400300"/>
                      <a:gd name="csX57" fmla="*/ 304800 w 423863"/>
                      <a:gd name="csY57" fmla="*/ 1524000 h 2400300"/>
                      <a:gd name="csX58" fmla="*/ 347663 w 423863"/>
                      <a:gd name="csY58" fmla="*/ 1557337 h 2400300"/>
                      <a:gd name="csX59" fmla="*/ 352425 w 423863"/>
                      <a:gd name="csY59" fmla="*/ 1576387 h 2400300"/>
                      <a:gd name="csX60" fmla="*/ 361950 w 423863"/>
                      <a:gd name="csY60" fmla="*/ 1628775 h 2400300"/>
                      <a:gd name="csX61" fmla="*/ 347663 w 423863"/>
                      <a:gd name="csY61" fmla="*/ 1871662 h 2400300"/>
                      <a:gd name="csX62" fmla="*/ 338138 w 423863"/>
                      <a:gd name="csY62" fmla="*/ 1905000 h 2400300"/>
                      <a:gd name="csX63" fmla="*/ 333375 w 423863"/>
                      <a:gd name="csY63" fmla="*/ 1928812 h 2400300"/>
                      <a:gd name="csX64" fmla="*/ 314325 w 423863"/>
                      <a:gd name="csY64" fmla="*/ 1966912 h 2400300"/>
                      <a:gd name="csX65" fmla="*/ 304800 w 423863"/>
                      <a:gd name="csY65" fmla="*/ 1985962 h 2400300"/>
                      <a:gd name="csX66" fmla="*/ 290513 w 423863"/>
                      <a:gd name="csY66" fmla="*/ 2033587 h 2400300"/>
                      <a:gd name="csX67" fmla="*/ 280988 w 423863"/>
                      <a:gd name="csY67" fmla="*/ 2052637 h 2400300"/>
                      <a:gd name="csX68" fmla="*/ 261938 w 423863"/>
                      <a:gd name="csY68" fmla="*/ 2119312 h 2400300"/>
                      <a:gd name="csX69" fmla="*/ 257175 w 423863"/>
                      <a:gd name="csY69" fmla="*/ 2162175 h 2400300"/>
                      <a:gd name="csX70" fmla="*/ 247650 w 423863"/>
                      <a:gd name="csY70" fmla="*/ 2185987 h 2400300"/>
                      <a:gd name="csX71" fmla="*/ 242888 w 423863"/>
                      <a:gd name="csY71" fmla="*/ 2205037 h 2400300"/>
                      <a:gd name="csX72" fmla="*/ 257175 w 423863"/>
                      <a:gd name="csY72" fmla="*/ 2381250 h 2400300"/>
                      <a:gd name="csX73" fmla="*/ 271463 w 423863"/>
                      <a:gd name="csY73" fmla="*/ 2400300 h 2400300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  <a:cxn ang="0">
                        <a:pos x="csX59" y="csY59"/>
                      </a:cxn>
                      <a:cxn ang="0">
                        <a:pos x="csX60" y="csY60"/>
                      </a:cxn>
                      <a:cxn ang="0">
                        <a:pos x="csX61" y="csY61"/>
                      </a:cxn>
                      <a:cxn ang="0">
                        <a:pos x="csX62" y="csY62"/>
                      </a:cxn>
                      <a:cxn ang="0">
                        <a:pos x="csX63" y="csY63"/>
                      </a:cxn>
                      <a:cxn ang="0">
                        <a:pos x="csX64" y="csY64"/>
                      </a:cxn>
                      <a:cxn ang="0">
                        <a:pos x="csX65" y="csY65"/>
                      </a:cxn>
                      <a:cxn ang="0">
                        <a:pos x="csX66" y="csY66"/>
                      </a:cxn>
                      <a:cxn ang="0">
                        <a:pos x="csX67" y="csY67"/>
                      </a:cxn>
                      <a:cxn ang="0">
                        <a:pos x="csX68" y="csY68"/>
                      </a:cxn>
                      <a:cxn ang="0">
                        <a:pos x="csX69" y="csY69"/>
                      </a:cxn>
                      <a:cxn ang="0">
                        <a:pos x="csX70" y="csY70"/>
                      </a:cxn>
                      <a:cxn ang="0">
                        <a:pos x="csX71" y="csY71"/>
                      </a:cxn>
                      <a:cxn ang="0">
                        <a:pos x="csX72" y="csY72"/>
                      </a:cxn>
                      <a:cxn ang="0">
                        <a:pos x="csX73" y="csY73"/>
                      </a:cxn>
                    </a:cxnLst>
                    <a:rect l="l" t="t" r="r" b="b"/>
                    <a:pathLst>
                      <a:path w="423863" h="2400300">
                        <a:moveTo>
                          <a:pt x="423863" y="0"/>
                        </a:moveTo>
                        <a:cubicBezTo>
                          <a:pt x="419100" y="7937"/>
                          <a:pt x="413715" y="15533"/>
                          <a:pt x="409575" y="23812"/>
                        </a:cubicBezTo>
                        <a:cubicBezTo>
                          <a:pt x="407330" y="28302"/>
                          <a:pt x="407598" y="33923"/>
                          <a:pt x="404813" y="38100"/>
                        </a:cubicBezTo>
                        <a:cubicBezTo>
                          <a:pt x="401077" y="43704"/>
                          <a:pt x="395288" y="47625"/>
                          <a:pt x="390525" y="52387"/>
                        </a:cubicBezTo>
                        <a:cubicBezTo>
                          <a:pt x="388938" y="58737"/>
                          <a:pt x="387688" y="65181"/>
                          <a:pt x="385763" y="71437"/>
                        </a:cubicBezTo>
                        <a:cubicBezTo>
                          <a:pt x="381334" y="85832"/>
                          <a:pt x="374428" y="99532"/>
                          <a:pt x="371475" y="114300"/>
                        </a:cubicBezTo>
                        <a:cubicBezTo>
                          <a:pt x="369888" y="122237"/>
                          <a:pt x="370333" y="130872"/>
                          <a:pt x="366713" y="138112"/>
                        </a:cubicBezTo>
                        <a:cubicBezTo>
                          <a:pt x="363701" y="144136"/>
                          <a:pt x="357188" y="147637"/>
                          <a:pt x="352425" y="152400"/>
                        </a:cubicBezTo>
                        <a:cubicBezTo>
                          <a:pt x="349250" y="160337"/>
                          <a:pt x="345603" y="168102"/>
                          <a:pt x="342900" y="176212"/>
                        </a:cubicBezTo>
                        <a:cubicBezTo>
                          <a:pt x="331522" y="210348"/>
                          <a:pt x="346503" y="180314"/>
                          <a:pt x="328613" y="219075"/>
                        </a:cubicBezTo>
                        <a:cubicBezTo>
                          <a:pt x="322663" y="231967"/>
                          <a:pt x="309563" y="257175"/>
                          <a:pt x="309563" y="257175"/>
                        </a:cubicBezTo>
                        <a:cubicBezTo>
                          <a:pt x="307975" y="265112"/>
                          <a:pt x="306930" y="273178"/>
                          <a:pt x="304800" y="280987"/>
                        </a:cubicBezTo>
                        <a:cubicBezTo>
                          <a:pt x="302158" y="290673"/>
                          <a:pt x="297244" y="299717"/>
                          <a:pt x="295275" y="309562"/>
                        </a:cubicBezTo>
                        <a:cubicBezTo>
                          <a:pt x="289529" y="338298"/>
                          <a:pt x="293073" y="325696"/>
                          <a:pt x="285750" y="347662"/>
                        </a:cubicBezTo>
                        <a:cubicBezTo>
                          <a:pt x="284163" y="357187"/>
                          <a:pt x="280988" y="366581"/>
                          <a:pt x="280988" y="376237"/>
                        </a:cubicBezTo>
                        <a:cubicBezTo>
                          <a:pt x="280988" y="420465"/>
                          <a:pt x="281871" y="455089"/>
                          <a:pt x="295275" y="495300"/>
                        </a:cubicBezTo>
                        <a:cubicBezTo>
                          <a:pt x="297520" y="502035"/>
                          <a:pt x="302003" y="507825"/>
                          <a:pt x="304800" y="514350"/>
                        </a:cubicBezTo>
                        <a:cubicBezTo>
                          <a:pt x="317163" y="543195"/>
                          <a:pt x="299361" y="512996"/>
                          <a:pt x="319088" y="552450"/>
                        </a:cubicBezTo>
                        <a:cubicBezTo>
                          <a:pt x="321648" y="557569"/>
                          <a:pt x="325438" y="561975"/>
                          <a:pt x="328613" y="566737"/>
                        </a:cubicBezTo>
                        <a:cubicBezTo>
                          <a:pt x="339416" y="599151"/>
                          <a:pt x="325826" y="559308"/>
                          <a:pt x="342900" y="604837"/>
                        </a:cubicBezTo>
                        <a:cubicBezTo>
                          <a:pt x="344663" y="609538"/>
                          <a:pt x="345900" y="614424"/>
                          <a:pt x="347663" y="619125"/>
                        </a:cubicBezTo>
                        <a:cubicBezTo>
                          <a:pt x="350665" y="627129"/>
                          <a:pt x="354013" y="635000"/>
                          <a:pt x="357188" y="642937"/>
                        </a:cubicBezTo>
                        <a:cubicBezTo>
                          <a:pt x="358775" y="650875"/>
                          <a:pt x="359108" y="659171"/>
                          <a:pt x="361950" y="666750"/>
                        </a:cubicBezTo>
                        <a:cubicBezTo>
                          <a:pt x="363960" y="672109"/>
                          <a:pt x="369465" y="675678"/>
                          <a:pt x="371475" y="681037"/>
                        </a:cubicBezTo>
                        <a:cubicBezTo>
                          <a:pt x="374317" y="688616"/>
                          <a:pt x="374650" y="696912"/>
                          <a:pt x="376238" y="704850"/>
                        </a:cubicBezTo>
                        <a:cubicBezTo>
                          <a:pt x="371475" y="755650"/>
                          <a:pt x="370571" y="806961"/>
                          <a:pt x="361950" y="857250"/>
                        </a:cubicBezTo>
                        <a:cubicBezTo>
                          <a:pt x="360812" y="863888"/>
                          <a:pt x="351975" y="866363"/>
                          <a:pt x="347663" y="871537"/>
                        </a:cubicBezTo>
                        <a:cubicBezTo>
                          <a:pt x="343999" y="875934"/>
                          <a:pt x="340978" y="880855"/>
                          <a:pt x="338138" y="885825"/>
                        </a:cubicBezTo>
                        <a:cubicBezTo>
                          <a:pt x="312501" y="930690"/>
                          <a:pt x="346061" y="881080"/>
                          <a:pt x="314325" y="919162"/>
                        </a:cubicBezTo>
                        <a:cubicBezTo>
                          <a:pt x="310661" y="923559"/>
                          <a:pt x="309146" y="929725"/>
                          <a:pt x="304800" y="933450"/>
                        </a:cubicBezTo>
                        <a:cubicBezTo>
                          <a:pt x="297772" y="939474"/>
                          <a:pt x="288393" y="942183"/>
                          <a:pt x="280988" y="947737"/>
                        </a:cubicBezTo>
                        <a:cubicBezTo>
                          <a:pt x="275600" y="951778"/>
                          <a:pt x="271814" y="957642"/>
                          <a:pt x="266700" y="962025"/>
                        </a:cubicBezTo>
                        <a:cubicBezTo>
                          <a:pt x="256331" y="970912"/>
                          <a:pt x="241904" y="981402"/>
                          <a:pt x="228600" y="985837"/>
                        </a:cubicBezTo>
                        <a:cubicBezTo>
                          <a:pt x="220921" y="988397"/>
                          <a:pt x="212690" y="988844"/>
                          <a:pt x="204788" y="990600"/>
                        </a:cubicBezTo>
                        <a:cubicBezTo>
                          <a:pt x="186840" y="994588"/>
                          <a:pt x="187366" y="994819"/>
                          <a:pt x="171450" y="1000125"/>
                        </a:cubicBezTo>
                        <a:cubicBezTo>
                          <a:pt x="165100" y="1004887"/>
                          <a:pt x="159339" y="1010557"/>
                          <a:pt x="152400" y="1014412"/>
                        </a:cubicBezTo>
                        <a:cubicBezTo>
                          <a:pt x="130203" y="1026743"/>
                          <a:pt x="133012" y="1020680"/>
                          <a:pt x="114300" y="1028700"/>
                        </a:cubicBezTo>
                        <a:cubicBezTo>
                          <a:pt x="107775" y="1031497"/>
                          <a:pt x="101414" y="1034703"/>
                          <a:pt x="95250" y="1038225"/>
                        </a:cubicBezTo>
                        <a:cubicBezTo>
                          <a:pt x="90280" y="1041065"/>
                          <a:pt x="85621" y="1044423"/>
                          <a:pt x="80963" y="1047750"/>
                        </a:cubicBezTo>
                        <a:cubicBezTo>
                          <a:pt x="74504" y="1052364"/>
                          <a:pt x="68805" y="1058099"/>
                          <a:pt x="61913" y="1062037"/>
                        </a:cubicBezTo>
                        <a:cubicBezTo>
                          <a:pt x="57554" y="1064528"/>
                          <a:pt x="52388" y="1065212"/>
                          <a:pt x="47625" y="1066800"/>
                        </a:cubicBezTo>
                        <a:cubicBezTo>
                          <a:pt x="34576" y="1105949"/>
                          <a:pt x="54425" y="1056145"/>
                          <a:pt x="28575" y="1090612"/>
                        </a:cubicBezTo>
                        <a:cubicBezTo>
                          <a:pt x="22185" y="1099131"/>
                          <a:pt x="18613" y="1109456"/>
                          <a:pt x="14288" y="1119187"/>
                        </a:cubicBezTo>
                        <a:cubicBezTo>
                          <a:pt x="12249" y="1123775"/>
                          <a:pt x="10904" y="1128648"/>
                          <a:pt x="9525" y="1133475"/>
                        </a:cubicBezTo>
                        <a:cubicBezTo>
                          <a:pt x="5044" y="1149158"/>
                          <a:pt x="3271" y="1159983"/>
                          <a:pt x="0" y="1176337"/>
                        </a:cubicBezTo>
                        <a:cubicBezTo>
                          <a:pt x="1588" y="1211262"/>
                          <a:pt x="1975" y="1246262"/>
                          <a:pt x="4763" y="1281112"/>
                        </a:cubicBezTo>
                        <a:cubicBezTo>
                          <a:pt x="5673" y="1292490"/>
                          <a:pt x="19441" y="1312654"/>
                          <a:pt x="23813" y="1319212"/>
                        </a:cubicBezTo>
                        <a:cubicBezTo>
                          <a:pt x="28216" y="1325816"/>
                          <a:pt x="33487" y="1331803"/>
                          <a:pt x="38100" y="1338262"/>
                        </a:cubicBezTo>
                        <a:cubicBezTo>
                          <a:pt x="41427" y="1342920"/>
                          <a:pt x="43578" y="1348503"/>
                          <a:pt x="47625" y="1352550"/>
                        </a:cubicBezTo>
                        <a:cubicBezTo>
                          <a:pt x="51672" y="1356597"/>
                          <a:pt x="57516" y="1358411"/>
                          <a:pt x="61913" y="1362075"/>
                        </a:cubicBezTo>
                        <a:cubicBezTo>
                          <a:pt x="67087" y="1366387"/>
                          <a:pt x="70313" y="1373091"/>
                          <a:pt x="76200" y="1376362"/>
                        </a:cubicBezTo>
                        <a:cubicBezTo>
                          <a:pt x="94012" y="1386258"/>
                          <a:pt x="125260" y="1388366"/>
                          <a:pt x="142875" y="1395412"/>
                        </a:cubicBezTo>
                        <a:cubicBezTo>
                          <a:pt x="213448" y="1423641"/>
                          <a:pt x="125684" y="1387771"/>
                          <a:pt x="185738" y="1414462"/>
                        </a:cubicBezTo>
                        <a:cubicBezTo>
                          <a:pt x="193550" y="1417934"/>
                          <a:pt x="201904" y="1420164"/>
                          <a:pt x="209550" y="1423987"/>
                        </a:cubicBezTo>
                        <a:cubicBezTo>
                          <a:pt x="230285" y="1434355"/>
                          <a:pt x="256378" y="1466053"/>
                          <a:pt x="266700" y="1476375"/>
                        </a:cubicBezTo>
                        <a:lnTo>
                          <a:pt x="285750" y="1495425"/>
                        </a:lnTo>
                        <a:lnTo>
                          <a:pt x="300038" y="1509712"/>
                        </a:lnTo>
                        <a:cubicBezTo>
                          <a:pt x="301625" y="1514475"/>
                          <a:pt x="302015" y="1519823"/>
                          <a:pt x="304800" y="1524000"/>
                        </a:cubicBezTo>
                        <a:cubicBezTo>
                          <a:pt x="313751" y="1537427"/>
                          <a:pt x="336313" y="1549771"/>
                          <a:pt x="347663" y="1557337"/>
                        </a:cubicBezTo>
                        <a:cubicBezTo>
                          <a:pt x="349250" y="1563687"/>
                          <a:pt x="351005" y="1569997"/>
                          <a:pt x="352425" y="1576387"/>
                        </a:cubicBezTo>
                        <a:cubicBezTo>
                          <a:pt x="356866" y="1596371"/>
                          <a:pt x="358501" y="1608078"/>
                          <a:pt x="361950" y="1628775"/>
                        </a:cubicBezTo>
                        <a:cubicBezTo>
                          <a:pt x="359095" y="1737272"/>
                          <a:pt x="365514" y="1782406"/>
                          <a:pt x="347663" y="1871662"/>
                        </a:cubicBezTo>
                        <a:cubicBezTo>
                          <a:pt x="345396" y="1882995"/>
                          <a:pt x="340941" y="1893788"/>
                          <a:pt x="338138" y="1905000"/>
                        </a:cubicBezTo>
                        <a:cubicBezTo>
                          <a:pt x="336175" y="1912853"/>
                          <a:pt x="335701" y="1921059"/>
                          <a:pt x="333375" y="1928812"/>
                        </a:cubicBezTo>
                        <a:cubicBezTo>
                          <a:pt x="324490" y="1958427"/>
                          <a:pt x="326741" y="1945185"/>
                          <a:pt x="314325" y="1966912"/>
                        </a:cubicBezTo>
                        <a:cubicBezTo>
                          <a:pt x="310803" y="1973076"/>
                          <a:pt x="307975" y="1979612"/>
                          <a:pt x="304800" y="1985962"/>
                        </a:cubicBezTo>
                        <a:cubicBezTo>
                          <a:pt x="299440" y="2012765"/>
                          <a:pt x="301906" y="2007954"/>
                          <a:pt x="290513" y="2033587"/>
                        </a:cubicBezTo>
                        <a:cubicBezTo>
                          <a:pt x="287630" y="2040075"/>
                          <a:pt x="283233" y="2045902"/>
                          <a:pt x="280988" y="2052637"/>
                        </a:cubicBezTo>
                        <a:cubicBezTo>
                          <a:pt x="273679" y="2074565"/>
                          <a:pt x="261938" y="2119312"/>
                          <a:pt x="261938" y="2119312"/>
                        </a:cubicBezTo>
                        <a:cubicBezTo>
                          <a:pt x="260350" y="2133600"/>
                          <a:pt x="260187" y="2148119"/>
                          <a:pt x="257175" y="2162175"/>
                        </a:cubicBezTo>
                        <a:cubicBezTo>
                          <a:pt x="255384" y="2170534"/>
                          <a:pt x="250353" y="2177877"/>
                          <a:pt x="247650" y="2185987"/>
                        </a:cubicBezTo>
                        <a:cubicBezTo>
                          <a:pt x="245580" y="2192197"/>
                          <a:pt x="244475" y="2198687"/>
                          <a:pt x="242888" y="2205037"/>
                        </a:cubicBezTo>
                        <a:cubicBezTo>
                          <a:pt x="244633" y="2255655"/>
                          <a:pt x="237463" y="2327043"/>
                          <a:pt x="257175" y="2381250"/>
                        </a:cubicBezTo>
                        <a:cubicBezTo>
                          <a:pt x="260252" y="2389712"/>
                          <a:pt x="265671" y="2394508"/>
                          <a:pt x="271463" y="2400300"/>
                        </a:cubicBezTo>
                      </a:path>
                    </a:pathLst>
                  </a:custGeom>
                  <a:ln w="28575" cap="flat" cmpd="sng" algn="ctr">
                    <a:solidFill>
                      <a:srgbClr val="FBA600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77" name="Free-form: Shape 76">
                    <a:extLst>
                      <a:ext uri="{FF2B5EF4-FFF2-40B4-BE49-F238E27FC236}">
                        <a16:creationId xmlns:a16="http://schemas.microsoft.com/office/drawing/2014/main" id="{CA73159E-829A-3531-12AA-1DAF05D4342E}"/>
                      </a:ext>
                    </a:extLst>
                  </p:cNvPr>
                  <p:cNvSpPr/>
                  <p:nvPr/>
                </p:nvSpPr>
                <p:spPr>
                  <a:xfrm>
                    <a:off x="5981196" y="3686745"/>
                    <a:ext cx="1019943" cy="1445842"/>
                  </a:xfrm>
                  <a:custGeom>
                    <a:avLst/>
                    <a:gdLst>
                      <a:gd name="csX0" fmla="*/ 0 w 2034540"/>
                      <a:gd name="csY0" fmla="*/ 2567981 h 2926121"/>
                      <a:gd name="csX1" fmla="*/ 114300 w 2034540"/>
                      <a:gd name="csY1" fmla="*/ 2644181 h 2926121"/>
                      <a:gd name="csX2" fmla="*/ 144780 w 2034540"/>
                      <a:gd name="csY2" fmla="*/ 2667041 h 2926121"/>
                      <a:gd name="csX3" fmla="*/ 251460 w 2034540"/>
                      <a:gd name="csY3" fmla="*/ 2766101 h 2926121"/>
                      <a:gd name="csX4" fmla="*/ 274320 w 2034540"/>
                      <a:gd name="csY4" fmla="*/ 2773721 h 2926121"/>
                      <a:gd name="csX5" fmla="*/ 312420 w 2034540"/>
                      <a:gd name="csY5" fmla="*/ 2796581 h 2926121"/>
                      <a:gd name="csX6" fmla="*/ 403860 w 2034540"/>
                      <a:gd name="csY6" fmla="*/ 2834681 h 2926121"/>
                      <a:gd name="csX7" fmla="*/ 441960 w 2034540"/>
                      <a:gd name="csY7" fmla="*/ 2849921 h 2926121"/>
                      <a:gd name="csX8" fmla="*/ 510540 w 2034540"/>
                      <a:gd name="csY8" fmla="*/ 2888021 h 2926121"/>
                      <a:gd name="csX9" fmla="*/ 533400 w 2034540"/>
                      <a:gd name="csY9" fmla="*/ 2895641 h 2926121"/>
                      <a:gd name="csX10" fmla="*/ 617220 w 2034540"/>
                      <a:gd name="csY10" fmla="*/ 2910881 h 2926121"/>
                      <a:gd name="csX11" fmla="*/ 678180 w 2034540"/>
                      <a:gd name="csY11" fmla="*/ 2926121 h 2926121"/>
                      <a:gd name="csX12" fmla="*/ 868680 w 2034540"/>
                      <a:gd name="csY12" fmla="*/ 2910881 h 2926121"/>
                      <a:gd name="csX13" fmla="*/ 899160 w 2034540"/>
                      <a:gd name="csY13" fmla="*/ 2903261 h 2926121"/>
                      <a:gd name="csX14" fmla="*/ 960120 w 2034540"/>
                      <a:gd name="csY14" fmla="*/ 2895641 h 2926121"/>
                      <a:gd name="csX15" fmla="*/ 1021080 w 2034540"/>
                      <a:gd name="csY15" fmla="*/ 2865161 h 2926121"/>
                      <a:gd name="csX16" fmla="*/ 1059180 w 2034540"/>
                      <a:gd name="csY16" fmla="*/ 2842301 h 2926121"/>
                      <a:gd name="csX17" fmla="*/ 1082040 w 2034540"/>
                      <a:gd name="csY17" fmla="*/ 2834681 h 2926121"/>
                      <a:gd name="csX18" fmla="*/ 1135380 w 2034540"/>
                      <a:gd name="csY18" fmla="*/ 2796581 h 2926121"/>
                      <a:gd name="csX19" fmla="*/ 1150620 w 2034540"/>
                      <a:gd name="csY19" fmla="*/ 2773721 h 2926121"/>
                      <a:gd name="csX20" fmla="*/ 1188720 w 2034540"/>
                      <a:gd name="csY20" fmla="*/ 2735621 h 2926121"/>
                      <a:gd name="csX21" fmla="*/ 1257300 w 2034540"/>
                      <a:gd name="csY21" fmla="*/ 2674661 h 2926121"/>
                      <a:gd name="csX22" fmla="*/ 1272540 w 2034540"/>
                      <a:gd name="csY22" fmla="*/ 2644181 h 2926121"/>
                      <a:gd name="csX23" fmla="*/ 1295400 w 2034540"/>
                      <a:gd name="csY23" fmla="*/ 2613701 h 2926121"/>
                      <a:gd name="csX24" fmla="*/ 1341120 w 2034540"/>
                      <a:gd name="csY24" fmla="*/ 2514641 h 2926121"/>
                      <a:gd name="csX25" fmla="*/ 1386840 w 2034540"/>
                      <a:gd name="csY25" fmla="*/ 2461301 h 2926121"/>
                      <a:gd name="csX26" fmla="*/ 1417320 w 2034540"/>
                      <a:gd name="csY26" fmla="*/ 2415581 h 2926121"/>
                      <a:gd name="csX27" fmla="*/ 1424940 w 2034540"/>
                      <a:gd name="csY27" fmla="*/ 2385101 h 2926121"/>
                      <a:gd name="csX28" fmla="*/ 1470660 w 2034540"/>
                      <a:gd name="csY28" fmla="*/ 2331761 h 2926121"/>
                      <a:gd name="csX29" fmla="*/ 1516380 w 2034540"/>
                      <a:gd name="csY29" fmla="*/ 2263181 h 2926121"/>
                      <a:gd name="csX30" fmla="*/ 1562100 w 2034540"/>
                      <a:gd name="csY30" fmla="*/ 2194601 h 2926121"/>
                      <a:gd name="csX31" fmla="*/ 1592580 w 2034540"/>
                      <a:gd name="csY31" fmla="*/ 2141261 h 2926121"/>
                      <a:gd name="csX32" fmla="*/ 1615440 w 2034540"/>
                      <a:gd name="csY32" fmla="*/ 2072681 h 2926121"/>
                      <a:gd name="csX33" fmla="*/ 1630680 w 2034540"/>
                      <a:gd name="csY33" fmla="*/ 2042201 h 2926121"/>
                      <a:gd name="csX34" fmla="*/ 1638300 w 2034540"/>
                      <a:gd name="csY34" fmla="*/ 2019341 h 2926121"/>
                      <a:gd name="csX35" fmla="*/ 1623060 w 2034540"/>
                      <a:gd name="csY35" fmla="*/ 1920281 h 2926121"/>
                      <a:gd name="csX36" fmla="*/ 1600200 w 2034540"/>
                      <a:gd name="csY36" fmla="*/ 1889801 h 2926121"/>
                      <a:gd name="csX37" fmla="*/ 1562100 w 2034540"/>
                      <a:gd name="csY37" fmla="*/ 1828841 h 2926121"/>
                      <a:gd name="csX38" fmla="*/ 1546860 w 2034540"/>
                      <a:gd name="csY38" fmla="*/ 1805981 h 2926121"/>
                      <a:gd name="csX39" fmla="*/ 1508760 w 2034540"/>
                      <a:gd name="csY39" fmla="*/ 1737401 h 2926121"/>
                      <a:gd name="csX40" fmla="*/ 1501140 w 2034540"/>
                      <a:gd name="csY40" fmla="*/ 1714541 h 2926121"/>
                      <a:gd name="csX41" fmla="*/ 1485900 w 2034540"/>
                      <a:gd name="csY41" fmla="*/ 1691681 h 2926121"/>
                      <a:gd name="csX42" fmla="*/ 1470660 w 2034540"/>
                      <a:gd name="csY42" fmla="*/ 1615481 h 2926121"/>
                      <a:gd name="csX43" fmla="*/ 1485900 w 2034540"/>
                      <a:gd name="csY43" fmla="*/ 1417361 h 2926121"/>
                      <a:gd name="csX44" fmla="*/ 1524000 w 2034540"/>
                      <a:gd name="csY44" fmla="*/ 1325921 h 2926121"/>
                      <a:gd name="csX45" fmla="*/ 1554480 w 2034540"/>
                      <a:gd name="csY45" fmla="*/ 1272581 h 2926121"/>
                      <a:gd name="csX46" fmla="*/ 1562100 w 2034540"/>
                      <a:gd name="csY46" fmla="*/ 1249721 h 2926121"/>
                      <a:gd name="csX47" fmla="*/ 1607820 w 2034540"/>
                      <a:gd name="csY47" fmla="*/ 1196381 h 2926121"/>
                      <a:gd name="csX48" fmla="*/ 1630680 w 2034540"/>
                      <a:gd name="csY48" fmla="*/ 1165901 h 2926121"/>
                      <a:gd name="csX49" fmla="*/ 1653540 w 2034540"/>
                      <a:gd name="csY49" fmla="*/ 1143041 h 2926121"/>
                      <a:gd name="csX50" fmla="*/ 1668780 w 2034540"/>
                      <a:gd name="csY50" fmla="*/ 1112561 h 2926121"/>
                      <a:gd name="csX51" fmla="*/ 1714500 w 2034540"/>
                      <a:gd name="csY51" fmla="*/ 1066841 h 2926121"/>
                      <a:gd name="csX52" fmla="*/ 1737360 w 2034540"/>
                      <a:gd name="csY52" fmla="*/ 1043981 h 2926121"/>
                      <a:gd name="csX53" fmla="*/ 1767840 w 2034540"/>
                      <a:gd name="csY53" fmla="*/ 1013501 h 2926121"/>
                      <a:gd name="csX54" fmla="*/ 1798320 w 2034540"/>
                      <a:gd name="csY54" fmla="*/ 990641 h 2926121"/>
                      <a:gd name="csX55" fmla="*/ 1821180 w 2034540"/>
                      <a:gd name="csY55" fmla="*/ 960161 h 2926121"/>
                      <a:gd name="csX56" fmla="*/ 1844040 w 2034540"/>
                      <a:gd name="csY56" fmla="*/ 937301 h 2926121"/>
                      <a:gd name="csX57" fmla="*/ 1859280 w 2034540"/>
                      <a:gd name="csY57" fmla="*/ 914441 h 2926121"/>
                      <a:gd name="csX58" fmla="*/ 1882140 w 2034540"/>
                      <a:gd name="csY58" fmla="*/ 899201 h 2926121"/>
                      <a:gd name="csX59" fmla="*/ 1889760 w 2034540"/>
                      <a:gd name="csY59" fmla="*/ 876341 h 2926121"/>
                      <a:gd name="csX60" fmla="*/ 1950720 w 2034540"/>
                      <a:gd name="csY60" fmla="*/ 792521 h 2926121"/>
                      <a:gd name="csX61" fmla="*/ 2004060 w 2034540"/>
                      <a:gd name="csY61" fmla="*/ 693461 h 2926121"/>
                      <a:gd name="csX62" fmla="*/ 2011680 w 2034540"/>
                      <a:gd name="csY62" fmla="*/ 655361 h 2926121"/>
                      <a:gd name="csX63" fmla="*/ 2026920 w 2034540"/>
                      <a:gd name="csY63" fmla="*/ 624881 h 2926121"/>
                      <a:gd name="csX64" fmla="*/ 2034540 w 2034540"/>
                      <a:gd name="csY64" fmla="*/ 579161 h 2926121"/>
                      <a:gd name="csX65" fmla="*/ 2026920 w 2034540"/>
                      <a:gd name="csY65" fmla="*/ 297221 h 2926121"/>
                      <a:gd name="csX66" fmla="*/ 2011680 w 2034540"/>
                      <a:gd name="csY66" fmla="*/ 243881 h 2926121"/>
                      <a:gd name="csX67" fmla="*/ 1996440 w 2034540"/>
                      <a:gd name="csY67" fmla="*/ 221021 h 2926121"/>
                      <a:gd name="csX68" fmla="*/ 1988820 w 2034540"/>
                      <a:gd name="csY68" fmla="*/ 198161 h 2926121"/>
                      <a:gd name="csX69" fmla="*/ 1958340 w 2034540"/>
                      <a:gd name="csY69" fmla="*/ 137201 h 2926121"/>
                      <a:gd name="csX70" fmla="*/ 1943100 w 2034540"/>
                      <a:gd name="csY70" fmla="*/ 83861 h 2926121"/>
                      <a:gd name="csX71" fmla="*/ 1920240 w 2034540"/>
                      <a:gd name="csY71" fmla="*/ 30521 h 2926121"/>
                      <a:gd name="csX72" fmla="*/ 1905000 w 2034540"/>
                      <a:gd name="csY72" fmla="*/ 41 h 292612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  <a:cxn ang="0">
                        <a:pos x="csX10" y="csY10"/>
                      </a:cxn>
                      <a:cxn ang="0">
                        <a:pos x="csX11" y="csY11"/>
                      </a:cxn>
                      <a:cxn ang="0">
                        <a:pos x="csX12" y="csY12"/>
                      </a:cxn>
                      <a:cxn ang="0">
                        <a:pos x="csX13" y="csY13"/>
                      </a:cxn>
                      <a:cxn ang="0">
                        <a:pos x="csX14" y="csY14"/>
                      </a:cxn>
                      <a:cxn ang="0">
                        <a:pos x="csX15" y="csY15"/>
                      </a:cxn>
                      <a:cxn ang="0">
                        <a:pos x="csX16" y="csY16"/>
                      </a:cxn>
                      <a:cxn ang="0">
                        <a:pos x="csX17" y="csY17"/>
                      </a:cxn>
                      <a:cxn ang="0">
                        <a:pos x="csX18" y="csY18"/>
                      </a:cxn>
                      <a:cxn ang="0">
                        <a:pos x="csX19" y="csY19"/>
                      </a:cxn>
                      <a:cxn ang="0">
                        <a:pos x="csX20" y="csY20"/>
                      </a:cxn>
                      <a:cxn ang="0">
                        <a:pos x="csX21" y="csY21"/>
                      </a:cxn>
                      <a:cxn ang="0">
                        <a:pos x="csX22" y="csY22"/>
                      </a:cxn>
                      <a:cxn ang="0">
                        <a:pos x="csX23" y="csY23"/>
                      </a:cxn>
                      <a:cxn ang="0">
                        <a:pos x="csX24" y="csY24"/>
                      </a:cxn>
                      <a:cxn ang="0">
                        <a:pos x="csX25" y="csY25"/>
                      </a:cxn>
                      <a:cxn ang="0">
                        <a:pos x="csX26" y="csY26"/>
                      </a:cxn>
                      <a:cxn ang="0">
                        <a:pos x="csX27" y="csY27"/>
                      </a:cxn>
                      <a:cxn ang="0">
                        <a:pos x="csX28" y="csY28"/>
                      </a:cxn>
                      <a:cxn ang="0">
                        <a:pos x="csX29" y="csY29"/>
                      </a:cxn>
                      <a:cxn ang="0">
                        <a:pos x="csX30" y="csY30"/>
                      </a:cxn>
                      <a:cxn ang="0">
                        <a:pos x="csX31" y="csY31"/>
                      </a:cxn>
                      <a:cxn ang="0">
                        <a:pos x="csX32" y="csY32"/>
                      </a:cxn>
                      <a:cxn ang="0">
                        <a:pos x="csX33" y="csY33"/>
                      </a:cxn>
                      <a:cxn ang="0">
                        <a:pos x="csX34" y="csY34"/>
                      </a:cxn>
                      <a:cxn ang="0">
                        <a:pos x="csX35" y="csY35"/>
                      </a:cxn>
                      <a:cxn ang="0">
                        <a:pos x="csX36" y="csY36"/>
                      </a:cxn>
                      <a:cxn ang="0">
                        <a:pos x="csX37" y="csY37"/>
                      </a:cxn>
                      <a:cxn ang="0">
                        <a:pos x="csX38" y="csY38"/>
                      </a:cxn>
                      <a:cxn ang="0">
                        <a:pos x="csX39" y="csY39"/>
                      </a:cxn>
                      <a:cxn ang="0">
                        <a:pos x="csX40" y="csY40"/>
                      </a:cxn>
                      <a:cxn ang="0">
                        <a:pos x="csX41" y="csY41"/>
                      </a:cxn>
                      <a:cxn ang="0">
                        <a:pos x="csX42" y="csY42"/>
                      </a:cxn>
                      <a:cxn ang="0">
                        <a:pos x="csX43" y="csY43"/>
                      </a:cxn>
                      <a:cxn ang="0">
                        <a:pos x="csX44" y="csY44"/>
                      </a:cxn>
                      <a:cxn ang="0">
                        <a:pos x="csX45" y="csY45"/>
                      </a:cxn>
                      <a:cxn ang="0">
                        <a:pos x="csX46" y="csY46"/>
                      </a:cxn>
                      <a:cxn ang="0">
                        <a:pos x="csX47" y="csY47"/>
                      </a:cxn>
                      <a:cxn ang="0">
                        <a:pos x="csX48" y="csY48"/>
                      </a:cxn>
                      <a:cxn ang="0">
                        <a:pos x="csX49" y="csY49"/>
                      </a:cxn>
                      <a:cxn ang="0">
                        <a:pos x="csX50" y="csY50"/>
                      </a:cxn>
                      <a:cxn ang="0">
                        <a:pos x="csX51" y="csY51"/>
                      </a:cxn>
                      <a:cxn ang="0">
                        <a:pos x="csX52" y="csY52"/>
                      </a:cxn>
                      <a:cxn ang="0">
                        <a:pos x="csX53" y="csY53"/>
                      </a:cxn>
                      <a:cxn ang="0">
                        <a:pos x="csX54" y="csY54"/>
                      </a:cxn>
                      <a:cxn ang="0">
                        <a:pos x="csX55" y="csY55"/>
                      </a:cxn>
                      <a:cxn ang="0">
                        <a:pos x="csX56" y="csY56"/>
                      </a:cxn>
                      <a:cxn ang="0">
                        <a:pos x="csX57" y="csY57"/>
                      </a:cxn>
                      <a:cxn ang="0">
                        <a:pos x="csX58" y="csY58"/>
                      </a:cxn>
                      <a:cxn ang="0">
                        <a:pos x="csX59" y="csY59"/>
                      </a:cxn>
                      <a:cxn ang="0">
                        <a:pos x="csX60" y="csY60"/>
                      </a:cxn>
                      <a:cxn ang="0">
                        <a:pos x="csX61" y="csY61"/>
                      </a:cxn>
                      <a:cxn ang="0">
                        <a:pos x="csX62" y="csY62"/>
                      </a:cxn>
                      <a:cxn ang="0">
                        <a:pos x="csX63" y="csY63"/>
                      </a:cxn>
                      <a:cxn ang="0">
                        <a:pos x="csX64" y="csY64"/>
                      </a:cxn>
                      <a:cxn ang="0">
                        <a:pos x="csX65" y="csY65"/>
                      </a:cxn>
                      <a:cxn ang="0">
                        <a:pos x="csX66" y="csY66"/>
                      </a:cxn>
                      <a:cxn ang="0">
                        <a:pos x="csX67" y="csY67"/>
                      </a:cxn>
                      <a:cxn ang="0">
                        <a:pos x="csX68" y="csY68"/>
                      </a:cxn>
                      <a:cxn ang="0">
                        <a:pos x="csX69" y="csY69"/>
                      </a:cxn>
                      <a:cxn ang="0">
                        <a:pos x="csX70" y="csY70"/>
                      </a:cxn>
                      <a:cxn ang="0">
                        <a:pos x="csX71" y="csY71"/>
                      </a:cxn>
                      <a:cxn ang="0">
                        <a:pos x="csX72" y="csY72"/>
                      </a:cxn>
                    </a:cxnLst>
                    <a:rect l="l" t="t" r="r" b="b"/>
                    <a:pathLst>
                      <a:path w="2034540" h="2926121">
                        <a:moveTo>
                          <a:pt x="0" y="2567981"/>
                        </a:moveTo>
                        <a:cubicBezTo>
                          <a:pt x="73155" y="2604559"/>
                          <a:pt x="29666" y="2579078"/>
                          <a:pt x="114300" y="2644181"/>
                        </a:cubicBezTo>
                        <a:cubicBezTo>
                          <a:pt x="124366" y="2651924"/>
                          <a:pt x="135800" y="2658061"/>
                          <a:pt x="144780" y="2667041"/>
                        </a:cubicBezTo>
                        <a:cubicBezTo>
                          <a:pt x="170664" y="2692925"/>
                          <a:pt x="217562" y="2743502"/>
                          <a:pt x="251460" y="2766101"/>
                        </a:cubicBezTo>
                        <a:cubicBezTo>
                          <a:pt x="258143" y="2770556"/>
                          <a:pt x="267136" y="2770129"/>
                          <a:pt x="274320" y="2773721"/>
                        </a:cubicBezTo>
                        <a:cubicBezTo>
                          <a:pt x="287567" y="2780345"/>
                          <a:pt x="299019" y="2790275"/>
                          <a:pt x="312420" y="2796581"/>
                        </a:cubicBezTo>
                        <a:cubicBezTo>
                          <a:pt x="342297" y="2810641"/>
                          <a:pt x="373327" y="2822109"/>
                          <a:pt x="403860" y="2834681"/>
                        </a:cubicBezTo>
                        <a:cubicBezTo>
                          <a:pt x="416508" y="2839889"/>
                          <a:pt x="430579" y="2842334"/>
                          <a:pt x="441960" y="2849921"/>
                        </a:cubicBezTo>
                        <a:cubicBezTo>
                          <a:pt x="471753" y="2869783"/>
                          <a:pt x="470107" y="2870051"/>
                          <a:pt x="510540" y="2888021"/>
                        </a:cubicBezTo>
                        <a:cubicBezTo>
                          <a:pt x="517880" y="2891283"/>
                          <a:pt x="525608" y="2893693"/>
                          <a:pt x="533400" y="2895641"/>
                        </a:cubicBezTo>
                        <a:cubicBezTo>
                          <a:pt x="577480" y="2906661"/>
                          <a:pt x="569664" y="2900690"/>
                          <a:pt x="617220" y="2910881"/>
                        </a:cubicBezTo>
                        <a:cubicBezTo>
                          <a:pt x="637700" y="2915270"/>
                          <a:pt x="657860" y="2921041"/>
                          <a:pt x="678180" y="2926121"/>
                        </a:cubicBezTo>
                        <a:cubicBezTo>
                          <a:pt x="741680" y="2921041"/>
                          <a:pt x="805315" y="2917436"/>
                          <a:pt x="868680" y="2910881"/>
                        </a:cubicBezTo>
                        <a:cubicBezTo>
                          <a:pt x="879097" y="2909803"/>
                          <a:pt x="888830" y="2904983"/>
                          <a:pt x="899160" y="2903261"/>
                        </a:cubicBezTo>
                        <a:cubicBezTo>
                          <a:pt x="919360" y="2899894"/>
                          <a:pt x="939800" y="2898181"/>
                          <a:pt x="960120" y="2895641"/>
                        </a:cubicBezTo>
                        <a:cubicBezTo>
                          <a:pt x="980440" y="2885481"/>
                          <a:pt x="1001599" y="2876850"/>
                          <a:pt x="1021080" y="2865161"/>
                        </a:cubicBezTo>
                        <a:cubicBezTo>
                          <a:pt x="1033780" y="2857541"/>
                          <a:pt x="1045933" y="2848925"/>
                          <a:pt x="1059180" y="2842301"/>
                        </a:cubicBezTo>
                        <a:cubicBezTo>
                          <a:pt x="1066364" y="2838709"/>
                          <a:pt x="1074856" y="2838273"/>
                          <a:pt x="1082040" y="2834681"/>
                        </a:cubicBezTo>
                        <a:cubicBezTo>
                          <a:pt x="1090693" y="2830354"/>
                          <a:pt x="1131928" y="2800033"/>
                          <a:pt x="1135380" y="2796581"/>
                        </a:cubicBezTo>
                        <a:cubicBezTo>
                          <a:pt x="1141856" y="2790105"/>
                          <a:pt x="1144589" y="2780613"/>
                          <a:pt x="1150620" y="2773721"/>
                        </a:cubicBezTo>
                        <a:cubicBezTo>
                          <a:pt x="1162447" y="2760204"/>
                          <a:pt x="1175370" y="2747636"/>
                          <a:pt x="1188720" y="2735621"/>
                        </a:cubicBezTo>
                        <a:cubicBezTo>
                          <a:pt x="1212869" y="2713887"/>
                          <a:pt x="1237557" y="2700985"/>
                          <a:pt x="1257300" y="2674661"/>
                        </a:cubicBezTo>
                        <a:cubicBezTo>
                          <a:pt x="1264116" y="2665574"/>
                          <a:pt x="1266520" y="2653814"/>
                          <a:pt x="1272540" y="2644181"/>
                        </a:cubicBezTo>
                        <a:cubicBezTo>
                          <a:pt x="1279271" y="2633411"/>
                          <a:pt x="1287780" y="2623861"/>
                          <a:pt x="1295400" y="2613701"/>
                        </a:cubicBezTo>
                        <a:cubicBezTo>
                          <a:pt x="1306104" y="2581589"/>
                          <a:pt x="1320274" y="2535487"/>
                          <a:pt x="1341120" y="2514641"/>
                        </a:cubicBezTo>
                        <a:cubicBezTo>
                          <a:pt x="1372960" y="2482801"/>
                          <a:pt x="1357514" y="2500402"/>
                          <a:pt x="1386840" y="2461301"/>
                        </a:cubicBezTo>
                        <a:cubicBezTo>
                          <a:pt x="1408717" y="2373795"/>
                          <a:pt x="1375222" y="2478729"/>
                          <a:pt x="1417320" y="2415581"/>
                        </a:cubicBezTo>
                        <a:cubicBezTo>
                          <a:pt x="1423129" y="2406867"/>
                          <a:pt x="1420256" y="2394468"/>
                          <a:pt x="1424940" y="2385101"/>
                        </a:cubicBezTo>
                        <a:cubicBezTo>
                          <a:pt x="1443702" y="2347577"/>
                          <a:pt x="1447783" y="2362263"/>
                          <a:pt x="1470660" y="2331761"/>
                        </a:cubicBezTo>
                        <a:cubicBezTo>
                          <a:pt x="1487145" y="2309782"/>
                          <a:pt x="1504093" y="2287755"/>
                          <a:pt x="1516380" y="2263181"/>
                        </a:cubicBezTo>
                        <a:cubicBezTo>
                          <a:pt x="1544059" y="2207822"/>
                          <a:pt x="1527192" y="2229509"/>
                          <a:pt x="1562100" y="2194601"/>
                        </a:cubicBezTo>
                        <a:cubicBezTo>
                          <a:pt x="1580544" y="2139269"/>
                          <a:pt x="1554137" y="2210459"/>
                          <a:pt x="1592580" y="2141261"/>
                        </a:cubicBezTo>
                        <a:cubicBezTo>
                          <a:pt x="1618236" y="2095080"/>
                          <a:pt x="1599505" y="2115173"/>
                          <a:pt x="1615440" y="2072681"/>
                        </a:cubicBezTo>
                        <a:cubicBezTo>
                          <a:pt x="1619428" y="2062045"/>
                          <a:pt x="1626205" y="2052642"/>
                          <a:pt x="1630680" y="2042201"/>
                        </a:cubicBezTo>
                        <a:cubicBezTo>
                          <a:pt x="1633844" y="2034818"/>
                          <a:pt x="1635760" y="2026961"/>
                          <a:pt x="1638300" y="2019341"/>
                        </a:cubicBezTo>
                        <a:cubicBezTo>
                          <a:pt x="1637437" y="2010710"/>
                          <a:pt x="1636375" y="1943582"/>
                          <a:pt x="1623060" y="1920281"/>
                        </a:cubicBezTo>
                        <a:cubicBezTo>
                          <a:pt x="1616759" y="1909254"/>
                          <a:pt x="1607582" y="1900135"/>
                          <a:pt x="1600200" y="1889801"/>
                        </a:cubicBezTo>
                        <a:cubicBezTo>
                          <a:pt x="1582789" y="1865426"/>
                          <a:pt x="1579896" y="1857315"/>
                          <a:pt x="1562100" y="1828841"/>
                        </a:cubicBezTo>
                        <a:cubicBezTo>
                          <a:pt x="1557246" y="1821075"/>
                          <a:pt x="1550956" y="1814172"/>
                          <a:pt x="1546860" y="1805981"/>
                        </a:cubicBezTo>
                        <a:cubicBezTo>
                          <a:pt x="1511936" y="1736133"/>
                          <a:pt x="1553724" y="1797353"/>
                          <a:pt x="1508760" y="1737401"/>
                        </a:cubicBezTo>
                        <a:cubicBezTo>
                          <a:pt x="1506220" y="1729781"/>
                          <a:pt x="1504732" y="1721725"/>
                          <a:pt x="1501140" y="1714541"/>
                        </a:cubicBezTo>
                        <a:cubicBezTo>
                          <a:pt x="1497044" y="1706350"/>
                          <a:pt x="1488593" y="1700434"/>
                          <a:pt x="1485900" y="1691681"/>
                        </a:cubicBezTo>
                        <a:cubicBezTo>
                          <a:pt x="1478282" y="1666923"/>
                          <a:pt x="1470660" y="1615481"/>
                          <a:pt x="1470660" y="1615481"/>
                        </a:cubicBezTo>
                        <a:cubicBezTo>
                          <a:pt x="1472475" y="1579185"/>
                          <a:pt x="1471916" y="1473298"/>
                          <a:pt x="1485900" y="1417361"/>
                        </a:cubicBezTo>
                        <a:cubicBezTo>
                          <a:pt x="1502218" y="1352089"/>
                          <a:pt x="1498527" y="1389603"/>
                          <a:pt x="1524000" y="1325921"/>
                        </a:cubicBezTo>
                        <a:cubicBezTo>
                          <a:pt x="1544467" y="1274753"/>
                          <a:pt x="1513684" y="1313377"/>
                          <a:pt x="1554480" y="1272581"/>
                        </a:cubicBezTo>
                        <a:cubicBezTo>
                          <a:pt x="1557020" y="1264961"/>
                          <a:pt x="1558115" y="1256695"/>
                          <a:pt x="1562100" y="1249721"/>
                        </a:cubicBezTo>
                        <a:cubicBezTo>
                          <a:pt x="1581200" y="1216296"/>
                          <a:pt x="1584657" y="1223405"/>
                          <a:pt x="1607820" y="1196381"/>
                        </a:cubicBezTo>
                        <a:cubicBezTo>
                          <a:pt x="1616085" y="1186738"/>
                          <a:pt x="1622415" y="1175544"/>
                          <a:pt x="1630680" y="1165901"/>
                        </a:cubicBezTo>
                        <a:cubicBezTo>
                          <a:pt x="1637693" y="1157719"/>
                          <a:pt x="1647276" y="1151810"/>
                          <a:pt x="1653540" y="1143041"/>
                        </a:cubicBezTo>
                        <a:cubicBezTo>
                          <a:pt x="1660142" y="1133798"/>
                          <a:pt x="1661684" y="1121431"/>
                          <a:pt x="1668780" y="1112561"/>
                        </a:cubicBezTo>
                        <a:cubicBezTo>
                          <a:pt x="1682244" y="1095731"/>
                          <a:pt x="1699260" y="1082081"/>
                          <a:pt x="1714500" y="1066841"/>
                        </a:cubicBezTo>
                        <a:lnTo>
                          <a:pt x="1737360" y="1043981"/>
                        </a:lnTo>
                        <a:cubicBezTo>
                          <a:pt x="1747520" y="1033821"/>
                          <a:pt x="1756345" y="1022122"/>
                          <a:pt x="1767840" y="1013501"/>
                        </a:cubicBezTo>
                        <a:cubicBezTo>
                          <a:pt x="1778000" y="1005881"/>
                          <a:pt x="1789340" y="999621"/>
                          <a:pt x="1798320" y="990641"/>
                        </a:cubicBezTo>
                        <a:cubicBezTo>
                          <a:pt x="1807300" y="981661"/>
                          <a:pt x="1812915" y="969804"/>
                          <a:pt x="1821180" y="960161"/>
                        </a:cubicBezTo>
                        <a:cubicBezTo>
                          <a:pt x="1828193" y="951979"/>
                          <a:pt x="1837141" y="945580"/>
                          <a:pt x="1844040" y="937301"/>
                        </a:cubicBezTo>
                        <a:cubicBezTo>
                          <a:pt x="1849903" y="930266"/>
                          <a:pt x="1852804" y="920917"/>
                          <a:pt x="1859280" y="914441"/>
                        </a:cubicBezTo>
                        <a:cubicBezTo>
                          <a:pt x="1865756" y="907965"/>
                          <a:pt x="1874520" y="904281"/>
                          <a:pt x="1882140" y="899201"/>
                        </a:cubicBezTo>
                        <a:cubicBezTo>
                          <a:pt x="1884680" y="891581"/>
                          <a:pt x="1885503" y="883152"/>
                          <a:pt x="1889760" y="876341"/>
                        </a:cubicBezTo>
                        <a:cubicBezTo>
                          <a:pt x="1924519" y="820726"/>
                          <a:pt x="1919285" y="855391"/>
                          <a:pt x="1950720" y="792521"/>
                        </a:cubicBezTo>
                        <a:cubicBezTo>
                          <a:pt x="1987824" y="718314"/>
                          <a:pt x="1969511" y="751042"/>
                          <a:pt x="2004060" y="693461"/>
                        </a:cubicBezTo>
                        <a:cubicBezTo>
                          <a:pt x="2006600" y="680761"/>
                          <a:pt x="2007584" y="667648"/>
                          <a:pt x="2011680" y="655361"/>
                        </a:cubicBezTo>
                        <a:cubicBezTo>
                          <a:pt x="2015272" y="644585"/>
                          <a:pt x="2023656" y="635761"/>
                          <a:pt x="2026920" y="624881"/>
                        </a:cubicBezTo>
                        <a:cubicBezTo>
                          <a:pt x="2031360" y="610082"/>
                          <a:pt x="2032000" y="594401"/>
                          <a:pt x="2034540" y="579161"/>
                        </a:cubicBezTo>
                        <a:cubicBezTo>
                          <a:pt x="2032000" y="485181"/>
                          <a:pt x="2031501" y="391124"/>
                          <a:pt x="2026920" y="297221"/>
                        </a:cubicBezTo>
                        <a:cubicBezTo>
                          <a:pt x="2026656" y="291810"/>
                          <a:pt x="2015476" y="251473"/>
                          <a:pt x="2011680" y="243881"/>
                        </a:cubicBezTo>
                        <a:cubicBezTo>
                          <a:pt x="2007584" y="235690"/>
                          <a:pt x="2000536" y="229212"/>
                          <a:pt x="1996440" y="221021"/>
                        </a:cubicBezTo>
                        <a:cubicBezTo>
                          <a:pt x="1992848" y="213837"/>
                          <a:pt x="1992144" y="205473"/>
                          <a:pt x="1988820" y="198161"/>
                        </a:cubicBezTo>
                        <a:cubicBezTo>
                          <a:pt x="1979419" y="177479"/>
                          <a:pt x="1964581" y="159045"/>
                          <a:pt x="1958340" y="137201"/>
                        </a:cubicBezTo>
                        <a:cubicBezTo>
                          <a:pt x="1953260" y="119421"/>
                          <a:pt x="1949419" y="101239"/>
                          <a:pt x="1943100" y="83861"/>
                        </a:cubicBezTo>
                        <a:cubicBezTo>
                          <a:pt x="1916007" y="9354"/>
                          <a:pt x="1937294" y="90209"/>
                          <a:pt x="1920240" y="30521"/>
                        </a:cubicBezTo>
                        <a:cubicBezTo>
                          <a:pt x="1910827" y="-2423"/>
                          <a:pt x="1923378" y="41"/>
                          <a:pt x="1905000" y="41"/>
                        </a:cubicBezTo>
                      </a:path>
                    </a:pathLst>
                  </a:custGeom>
                  <a:ln w="28575" cap="flat" cmpd="sng" algn="ctr">
                    <a:solidFill>
                      <a:srgbClr val="FBA600"/>
                    </a:solidFill>
                    <a:prstDash val="dash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142254B9-5CFA-2B95-607B-11A19C5156C9}"/>
                    </a:ext>
                  </a:extLst>
                </p:cNvPr>
                <p:cNvSpPr/>
                <p:nvPr/>
              </p:nvSpPr>
              <p:spPr>
                <a:xfrm>
                  <a:off x="6110000" y="5021861"/>
                  <a:ext cx="110022" cy="1100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D576C775-348E-4B2A-66CD-6AA4461EF337}"/>
                    </a:ext>
                  </a:extLst>
                </p:cNvPr>
                <p:cNvSpPr/>
                <p:nvPr/>
              </p:nvSpPr>
              <p:spPr>
                <a:xfrm>
                  <a:off x="5824265" y="4148793"/>
                  <a:ext cx="110022" cy="1100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500837A6-7E77-3952-4084-73109521BB25}"/>
                    </a:ext>
                  </a:extLst>
                </p:cNvPr>
                <p:cNvSpPr/>
                <p:nvPr/>
              </p:nvSpPr>
              <p:spPr>
                <a:xfrm>
                  <a:off x="5895674" y="3842014"/>
                  <a:ext cx="110022" cy="1100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F540E0EB-F62E-72C0-617E-0356705E6E5B}"/>
                    </a:ext>
                  </a:extLst>
                </p:cNvPr>
                <p:cNvSpPr/>
                <p:nvPr/>
              </p:nvSpPr>
              <p:spPr>
                <a:xfrm>
                  <a:off x="5824265" y="3573185"/>
                  <a:ext cx="110022" cy="1100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A39D7932-7E04-0C40-06D7-2F3077DC5E9B}"/>
                    </a:ext>
                  </a:extLst>
                </p:cNvPr>
                <p:cNvSpPr/>
                <p:nvPr/>
              </p:nvSpPr>
              <p:spPr>
                <a:xfrm>
                  <a:off x="5744961" y="4641530"/>
                  <a:ext cx="110022" cy="1100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4FF234CA-D483-6A75-17CD-2AB9F4AE267A}"/>
                    </a:ext>
                  </a:extLst>
                </p:cNvPr>
                <p:cNvSpPr/>
                <p:nvPr/>
              </p:nvSpPr>
              <p:spPr>
                <a:xfrm>
                  <a:off x="5584103" y="4283387"/>
                  <a:ext cx="110022" cy="1100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BC9E4C0F-1DD9-107C-1099-AA83988A9CC4}"/>
                    </a:ext>
                  </a:extLst>
                </p:cNvPr>
                <p:cNvSpPr/>
                <p:nvPr/>
              </p:nvSpPr>
              <p:spPr>
                <a:xfrm>
                  <a:off x="5568865" y="4534859"/>
                  <a:ext cx="110022" cy="1100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49826831-BE03-3D25-006C-7999F7CAADF4}"/>
                    </a:ext>
                  </a:extLst>
                </p:cNvPr>
                <p:cNvSpPr/>
                <p:nvPr/>
              </p:nvSpPr>
              <p:spPr>
                <a:xfrm>
                  <a:off x="5896261" y="5063193"/>
                  <a:ext cx="110022" cy="1100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BF1FF3EE-D49A-870B-9054-B1201288E361}"/>
                    </a:ext>
                  </a:extLst>
                </p:cNvPr>
                <p:cNvSpPr/>
                <p:nvPr/>
              </p:nvSpPr>
              <p:spPr>
                <a:xfrm>
                  <a:off x="6531856" y="4991100"/>
                  <a:ext cx="110022" cy="1100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/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8C25E39E-992F-F8AB-BCBC-9F7CAFF4B950}"/>
                    </a:ext>
                  </a:extLst>
                </p:cNvPr>
                <p:cNvSpPr/>
                <p:nvPr/>
              </p:nvSpPr>
              <p:spPr>
                <a:xfrm>
                  <a:off x="6747978" y="4652201"/>
                  <a:ext cx="110022" cy="1100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6C3AC824-BCFF-142F-38F2-FB85B9510A9B}"/>
                    </a:ext>
                  </a:extLst>
                </p:cNvPr>
                <p:cNvSpPr/>
                <p:nvPr/>
              </p:nvSpPr>
              <p:spPr>
                <a:xfrm>
                  <a:off x="6671778" y="4368563"/>
                  <a:ext cx="110022" cy="1100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1CABDFCA-3B3D-2D5E-FF97-9791B81106D1}"/>
                    </a:ext>
                  </a:extLst>
                </p:cNvPr>
                <p:cNvSpPr/>
                <p:nvPr/>
              </p:nvSpPr>
              <p:spPr>
                <a:xfrm>
                  <a:off x="6866644" y="3628196"/>
                  <a:ext cx="110022" cy="11002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CEFB5264-5FF6-1897-ECC6-CBA2F159BAF2}"/>
                  </a:ext>
                </a:extLst>
              </p:cNvPr>
              <p:cNvSpPr/>
              <p:nvPr/>
            </p:nvSpPr>
            <p:spPr>
              <a:xfrm>
                <a:off x="5901365" y="4762223"/>
                <a:ext cx="110022" cy="11002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5518FD8-7AE5-96DE-82D9-F3B13BB3EEDB}"/>
                </a:ext>
              </a:extLst>
            </p:cNvPr>
            <p:cNvSpPr/>
            <p:nvPr/>
          </p:nvSpPr>
          <p:spPr>
            <a:xfrm>
              <a:off x="6877577" y="4048037"/>
              <a:ext cx="110022" cy="11002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TextBox 11">
            <a:extLst>
              <a:ext uri="{FF2B5EF4-FFF2-40B4-BE49-F238E27FC236}">
                <a16:creationId xmlns:a16="http://schemas.microsoft.com/office/drawing/2014/main" id="{F50C9792-9DC8-735C-79AC-6280C83C61A6}"/>
              </a:ext>
            </a:extLst>
          </p:cNvPr>
          <p:cNvSpPr txBox="1"/>
          <p:nvPr/>
        </p:nvSpPr>
        <p:spPr>
          <a:xfrm>
            <a:off x="10952396" y="934721"/>
            <a:ext cx="261120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Smart Investor</a:t>
            </a: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3E93F7BE-9AA1-F405-200C-CF7E19BD17D2}"/>
              </a:ext>
            </a:extLst>
          </p:cNvPr>
          <p:cNvSpPr/>
          <p:nvPr/>
        </p:nvSpPr>
        <p:spPr>
          <a:xfrm rot="10800000">
            <a:off x="13421138" y="854784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49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8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xit" presetSubtype="8" accel="8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8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" presetClass="exit" presetSubtype="2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animBg="1"/>
      <p:bldP spid="12" grpId="1" animBg="1"/>
      <p:bldP spid="14" grpId="0" uiExpand="1"/>
      <p:bldP spid="14" grpId="1" uiExpan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818269" y="2242984"/>
            <a:ext cx="7526528" cy="26994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6000" dirty="0">
                <a:solidFill>
                  <a:srgbClr val="FFFFFF"/>
                </a:solidFill>
                <a:latin typeface="TT Norms" panose="020B0604020202020204" charset="0"/>
                <a:ea typeface="TT Norms"/>
                <a:cs typeface="TT Norms"/>
                <a:sym typeface="TT Norms"/>
              </a:rPr>
              <a:t>The</a:t>
            </a:r>
          </a:p>
          <a:p>
            <a:pPr algn="l">
              <a:lnSpc>
                <a:spcPts val="7000"/>
              </a:lnSpc>
            </a:pPr>
            <a:r>
              <a:rPr lang="en-US" sz="6000" b="1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Golden Visa</a:t>
            </a:r>
          </a:p>
          <a:p>
            <a:pPr algn="l">
              <a:lnSpc>
                <a:spcPts val="7000"/>
              </a:lnSpc>
            </a:pPr>
            <a:r>
              <a:rPr lang="en-US" sz="6000" dirty="0">
                <a:solidFill>
                  <a:srgbClr val="FFFFFF"/>
                </a:solidFill>
                <a:latin typeface="TT Norms" panose="020B0604020202020204" charset="0"/>
                <a:ea typeface="TT Norms"/>
                <a:cs typeface="TT Norms"/>
                <a:sym typeface="TT Norms"/>
              </a:rPr>
              <a:t>Phenomenon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18269" y="5046099"/>
            <a:ext cx="7494904" cy="3693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GB" sz="2000" dirty="0">
                <a:solidFill>
                  <a:schemeClr val="bg1"/>
                </a:solidFill>
              </a:rPr>
              <a:t>The </a:t>
            </a:r>
            <a:r>
              <a:rPr lang="en-GB" sz="2000" b="1" dirty="0">
                <a:solidFill>
                  <a:schemeClr val="bg1"/>
                </a:solidFill>
              </a:rPr>
              <a:t>Greek Golden Visa</a:t>
            </a:r>
            <a:r>
              <a:rPr lang="en-GB" sz="2000" dirty="0">
                <a:solidFill>
                  <a:schemeClr val="bg1"/>
                </a:solidFill>
              </a:rPr>
              <a:t> is a residency-by-investment program that grants five-year renewable EU residence permits to non-EU citizens who purchase local real estate. While it successfully injected massive liquidity into Greece's post-crisis economy, it has evolved into a distorting market phenomenon. To protect local housing, regulations have pushed the investment threshold in prime areas like Athens to </a:t>
            </a:r>
            <a:r>
              <a:rPr lang="en-GB" sz="2000" b="1" dirty="0">
                <a:solidFill>
                  <a:schemeClr val="bg1"/>
                </a:solidFill>
              </a:rPr>
              <a:t>€800,000 for properties of at least 120 square meters</a:t>
            </a:r>
            <a:r>
              <a:rPr lang="en-GB" sz="2000" dirty="0">
                <a:solidFill>
                  <a:schemeClr val="bg1"/>
                </a:solidFill>
              </a:rPr>
              <a:t>, while banning short-term rentals (like Airbnb) for these assets. This has effectively severed real estate pricing from local purchasing power, creating an insular, reverse-engineered premium market where international buyers hyper-concentrate capital into historic </a:t>
            </a:r>
            <a:r>
              <a:rPr lang="en-GB" sz="2000" dirty="0" err="1">
                <a:solidFill>
                  <a:schemeClr val="bg1"/>
                </a:solidFill>
              </a:rPr>
              <a:t>neighborhoods</a:t>
            </a:r>
            <a:r>
              <a:rPr lang="en-GB" sz="2000" dirty="0">
                <a:solidFill>
                  <a:schemeClr val="bg1"/>
                </a:solidFill>
              </a:rPr>
              <a:t>, driving extreme valuation spikes.</a:t>
            </a:r>
            <a:endParaRPr lang="en-US" sz="2000" dirty="0">
              <a:solidFill>
                <a:schemeClr val="bg1"/>
              </a:solidFill>
              <a:ea typeface="TT Norms"/>
              <a:cs typeface="TT Norms"/>
              <a:sym typeface="TT Norms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C25A866-18F4-2C58-CDFF-1C2CED75B197}"/>
              </a:ext>
            </a:extLst>
          </p:cNvPr>
          <p:cNvGrpSpPr/>
          <p:nvPr/>
        </p:nvGrpSpPr>
        <p:grpSpPr>
          <a:xfrm>
            <a:off x="10959438" y="2246637"/>
            <a:ext cx="5246370" cy="5659121"/>
            <a:chOff x="10959438" y="2246637"/>
            <a:chExt cx="5246370" cy="5659121"/>
          </a:xfrm>
        </p:grpSpPr>
        <p:grpSp>
          <p:nvGrpSpPr>
            <p:cNvPr id="6" name="Group 6"/>
            <p:cNvGrpSpPr/>
            <p:nvPr/>
          </p:nvGrpSpPr>
          <p:grpSpPr>
            <a:xfrm>
              <a:off x="10959438" y="2246637"/>
              <a:ext cx="5246370" cy="5659121"/>
              <a:chOff x="0" y="0"/>
              <a:chExt cx="812800" cy="876746"/>
            </a:xfrm>
            <a:solidFill>
              <a:srgbClr val="F6F6F6"/>
            </a:solidFill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76746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76746">
                    <a:moveTo>
                      <a:pt x="33940" y="0"/>
                    </a:moveTo>
                    <a:lnTo>
                      <a:pt x="778860" y="0"/>
                    </a:lnTo>
                    <a:cubicBezTo>
                      <a:pt x="797604" y="0"/>
                      <a:pt x="812800" y="15196"/>
                      <a:pt x="812800" y="33940"/>
                    </a:cubicBezTo>
                    <a:lnTo>
                      <a:pt x="812800" y="842806"/>
                    </a:lnTo>
                    <a:cubicBezTo>
                      <a:pt x="812800" y="861550"/>
                      <a:pt x="797604" y="876746"/>
                      <a:pt x="778860" y="876746"/>
                    </a:cubicBezTo>
                    <a:lnTo>
                      <a:pt x="33940" y="876746"/>
                    </a:lnTo>
                    <a:cubicBezTo>
                      <a:pt x="15196" y="876746"/>
                      <a:pt x="0" y="861550"/>
                      <a:pt x="0" y="842806"/>
                    </a:cubicBezTo>
                    <a:lnTo>
                      <a:pt x="0" y="33940"/>
                    </a:lnTo>
                    <a:cubicBezTo>
                      <a:pt x="0" y="15196"/>
                      <a:pt x="15196" y="0"/>
                      <a:pt x="33940" y="0"/>
                    </a:cubicBezTo>
                    <a:close/>
                  </a:path>
                </a:pathLst>
              </a:custGeom>
              <a:grpFill/>
              <a:ln w="57150" cap="rnd">
                <a:solidFill>
                  <a:srgbClr val="FFFFF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8FED9103-F3E7-09D9-FE9E-0EA6C4CFC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48328" y="4046032"/>
              <a:ext cx="4868589" cy="2060330"/>
            </a:xfrm>
            <a:prstGeom prst="rect">
              <a:avLst/>
            </a:prstGeom>
          </p:spPr>
        </p:pic>
      </p:grpSp>
      <p:sp>
        <p:nvSpPr>
          <p:cNvPr id="38" name="Freeform 2">
            <a:extLst>
              <a:ext uri="{FF2B5EF4-FFF2-40B4-BE49-F238E27FC236}">
                <a16:creationId xmlns:a16="http://schemas.microsoft.com/office/drawing/2014/main" id="{60A0B970-1777-1358-34BA-333D58F713C4}"/>
              </a:ext>
            </a:extLst>
          </p:cNvPr>
          <p:cNvSpPr/>
          <p:nvPr/>
        </p:nvSpPr>
        <p:spPr>
          <a:xfrm>
            <a:off x="1818269" y="846268"/>
            <a:ext cx="516732" cy="381898"/>
          </a:xfrm>
          <a:custGeom>
            <a:avLst/>
            <a:gdLst/>
            <a:ahLst/>
            <a:cxnLst/>
            <a:rect l="l" t="t" r="r" b="b"/>
            <a:pathLst>
              <a:path w="516732" h="381898">
                <a:moveTo>
                  <a:pt x="0" y="0"/>
                </a:moveTo>
                <a:lnTo>
                  <a:pt x="516733" y="0"/>
                </a:lnTo>
                <a:lnTo>
                  <a:pt x="516733" y="381898"/>
                </a:lnTo>
                <a:lnTo>
                  <a:pt x="0" y="381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9" name="Freeform 3">
            <a:extLst>
              <a:ext uri="{FF2B5EF4-FFF2-40B4-BE49-F238E27FC236}">
                <a16:creationId xmlns:a16="http://schemas.microsoft.com/office/drawing/2014/main" id="{70DF744D-AE25-DF10-C2FF-CC051D27AD0A}"/>
              </a:ext>
            </a:extLst>
          </p:cNvPr>
          <p:cNvSpPr/>
          <p:nvPr/>
        </p:nvSpPr>
        <p:spPr>
          <a:xfrm>
            <a:off x="14355033" y="858669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4FE1828C-0137-211D-12A9-17422996E095}"/>
              </a:ext>
            </a:extLst>
          </p:cNvPr>
          <p:cNvSpPr txBox="1"/>
          <p:nvPr/>
        </p:nvSpPr>
        <p:spPr>
          <a:xfrm>
            <a:off x="15935932" y="924554"/>
            <a:ext cx="1522880" cy="25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Page</a:t>
            </a:r>
            <a:r>
              <a:rPr lang="en-US" sz="186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004</a:t>
            </a:r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8100D783-14E3-A587-1BEA-98D263A6BEB1}"/>
              </a:ext>
            </a:extLst>
          </p:cNvPr>
          <p:cNvSpPr txBox="1"/>
          <p:nvPr/>
        </p:nvSpPr>
        <p:spPr>
          <a:xfrm>
            <a:off x="8880550" y="934721"/>
            <a:ext cx="1873878" cy="2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Premium Listings</a:t>
            </a:r>
          </a:p>
        </p:txBody>
      </p:sp>
      <p:sp>
        <p:nvSpPr>
          <p:cNvPr id="42" name="TextBox 11">
            <a:extLst>
              <a:ext uri="{FF2B5EF4-FFF2-40B4-BE49-F238E27FC236}">
                <a16:creationId xmlns:a16="http://schemas.microsoft.com/office/drawing/2014/main" id="{62E965FB-8060-45B5-2BB9-C638D4D73548}"/>
              </a:ext>
            </a:extLst>
          </p:cNvPr>
          <p:cNvSpPr txBox="1"/>
          <p:nvPr/>
        </p:nvSpPr>
        <p:spPr>
          <a:xfrm>
            <a:off x="2650291" y="934721"/>
            <a:ext cx="1636464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 panose="020B0604020202020204" charset="0"/>
                <a:ea typeface="TT Norms"/>
                <a:cs typeface="TT Norms"/>
                <a:sym typeface="TT Norms"/>
              </a:rPr>
              <a:t>Market Overview</a:t>
            </a:r>
          </a:p>
        </p:txBody>
      </p:sp>
      <p:sp>
        <p:nvSpPr>
          <p:cNvPr id="43" name="TextBox 11">
            <a:extLst>
              <a:ext uri="{FF2B5EF4-FFF2-40B4-BE49-F238E27FC236}">
                <a16:creationId xmlns:a16="http://schemas.microsoft.com/office/drawing/2014/main" id="{A36E990C-5126-8DDD-94FD-8C84646BDAB8}"/>
              </a:ext>
            </a:extLst>
          </p:cNvPr>
          <p:cNvSpPr txBox="1"/>
          <p:nvPr/>
        </p:nvSpPr>
        <p:spPr>
          <a:xfrm>
            <a:off x="4603428" y="934721"/>
            <a:ext cx="2406972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Neighborhood Deep Dive</a:t>
            </a:r>
          </a:p>
        </p:txBody>
      </p:sp>
      <p:sp>
        <p:nvSpPr>
          <p:cNvPr id="44" name="TextBox 11">
            <a:extLst>
              <a:ext uri="{FF2B5EF4-FFF2-40B4-BE49-F238E27FC236}">
                <a16:creationId xmlns:a16="http://schemas.microsoft.com/office/drawing/2014/main" id="{223DE008-3DF4-81F0-FA02-2E055B34DB44}"/>
              </a:ext>
            </a:extLst>
          </p:cNvPr>
          <p:cNvSpPr txBox="1"/>
          <p:nvPr/>
        </p:nvSpPr>
        <p:spPr>
          <a:xfrm>
            <a:off x="7346628" y="934721"/>
            <a:ext cx="13359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Energy Trends</a:t>
            </a:r>
          </a:p>
        </p:txBody>
      </p:sp>
      <p:sp>
        <p:nvSpPr>
          <p:cNvPr id="45" name="TextBox 11">
            <a:extLst>
              <a:ext uri="{FF2B5EF4-FFF2-40B4-BE49-F238E27FC236}">
                <a16:creationId xmlns:a16="http://schemas.microsoft.com/office/drawing/2014/main" id="{990E29C0-2677-C15E-7BEC-F19DCBCF50D4}"/>
              </a:ext>
            </a:extLst>
          </p:cNvPr>
          <p:cNvSpPr txBox="1"/>
          <p:nvPr/>
        </p:nvSpPr>
        <p:spPr>
          <a:xfrm>
            <a:off x="10952396" y="934721"/>
            <a:ext cx="261120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Smart Investor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A771D2A-2649-3771-5A91-69A02C291621}"/>
              </a:ext>
            </a:extLst>
          </p:cNvPr>
          <p:cNvSpPr/>
          <p:nvPr/>
        </p:nvSpPr>
        <p:spPr>
          <a:xfrm rot="10800000">
            <a:off x="13421138" y="854784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8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xit" presetSubtype="2" accel="8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16" grpId="0"/>
      <p:bldP spid="1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5FE77-380A-DC95-FAA2-482799516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A4CA5C3-217A-68A5-4BB8-6146CA20F5F2}"/>
              </a:ext>
            </a:extLst>
          </p:cNvPr>
          <p:cNvSpPr/>
          <p:nvPr/>
        </p:nvSpPr>
        <p:spPr>
          <a:xfrm>
            <a:off x="1818269" y="846268"/>
            <a:ext cx="516732" cy="381898"/>
          </a:xfrm>
          <a:custGeom>
            <a:avLst/>
            <a:gdLst/>
            <a:ahLst/>
            <a:cxnLst/>
            <a:rect l="l" t="t" r="r" b="b"/>
            <a:pathLst>
              <a:path w="516732" h="381898">
                <a:moveTo>
                  <a:pt x="0" y="0"/>
                </a:moveTo>
                <a:lnTo>
                  <a:pt x="516733" y="0"/>
                </a:lnTo>
                <a:lnTo>
                  <a:pt x="516733" y="381898"/>
                </a:lnTo>
                <a:lnTo>
                  <a:pt x="0" y="381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163B194-5F68-20B3-C1CA-E0A73614CB3F}"/>
              </a:ext>
            </a:extLst>
          </p:cNvPr>
          <p:cNvSpPr/>
          <p:nvPr/>
        </p:nvSpPr>
        <p:spPr>
          <a:xfrm>
            <a:off x="14355033" y="858669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157FB88-BF50-D0A7-B9B3-80DE4F874B76}"/>
              </a:ext>
            </a:extLst>
          </p:cNvPr>
          <p:cNvSpPr txBox="1"/>
          <p:nvPr/>
        </p:nvSpPr>
        <p:spPr>
          <a:xfrm>
            <a:off x="15935932" y="924554"/>
            <a:ext cx="1522880" cy="25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Page</a:t>
            </a:r>
            <a:r>
              <a:rPr lang="en-US" sz="186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004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D26AF49D-9311-CB27-0A3C-BC061E7A0642}"/>
              </a:ext>
            </a:extLst>
          </p:cNvPr>
          <p:cNvSpPr txBox="1"/>
          <p:nvPr/>
        </p:nvSpPr>
        <p:spPr>
          <a:xfrm>
            <a:off x="8880550" y="934721"/>
            <a:ext cx="1873878" cy="2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Premium Listings</a:t>
            </a:r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A7CBB14C-C3C5-C5ED-18DC-5CB0A41483ED}"/>
              </a:ext>
            </a:extLst>
          </p:cNvPr>
          <p:cNvSpPr txBox="1"/>
          <p:nvPr/>
        </p:nvSpPr>
        <p:spPr>
          <a:xfrm>
            <a:off x="2650291" y="934721"/>
            <a:ext cx="1636464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 panose="020B0604020202020204" charset="0"/>
                <a:ea typeface="TT Norms"/>
                <a:cs typeface="TT Norms"/>
                <a:sym typeface="TT Norms"/>
              </a:rPr>
              <a:t>Market Overview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72A5F872-7EFB-34B9-2C08-533CA71FDC13}"/>
              </a:ext>
            </a:extLst>
          </p:cNvPr>
          <p:cNvSpPr txBox="1"/>
          <p:nvPr/>
        </p:nvSpPr>
        <p:spPr>
          <a:xfrm>
            <a:off x="4603428" y="934721"/>
            <a:ext cx="2406972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Neighborhood Deep Dive</a:t>
            </a:r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DEE2BA7D-057A-694E-C024-7082EE1F58D8}"/>
              </a:ext>
            </a:extLst>
          </p:cNvPr>
          <p:cNvSpPr txBox="1"/>
          <p:nvPr/>
        </p:nvSpPr>
        <p:spPr>
          <a:xfrm>
            <a:off x="7346628" y="934721"/>
            <a:ext cx="13359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Energy Trends</a:t>
            </a:r>
          </a:p>
        </p:txBody>
      </p:sp>
      <p:sp>
        <p:nvSpPr>
          <p:cNvPr id="12" name="Freeform 19">
            <a:extLst>
              <a:ext uri="{FF2B5EF4-FFF2-40B4-BE49-F238E27FC236}">
                <a16:creationId xmlns:a16="http://schemas.microsoft.com/office/drawing/2014/main" id="{26F576A6-362E-A74A-4ACA-A451AA6D1946}"/>
              </a:ext>
            </a:extLst>
          </p:cNvPr>
          <p:cNvSpPr/>
          <p:nvPr/>
        </p:nvSpPr>
        <p:spPr>
          <a:xfrm>
            <a:off x="1964638" y="1704685"/>
            <a:ext cx="14285370" cy="4267584"/>
          </a:xfrm>
          <a:custGeom>
            <a:avLst/>
            <a:gdLst/>
            <a:ahLst/>
            <a:cxnLst/>
            <a:rect l="l" t="t" r="r" b="b"/>
            <a:pathLst>
              <a:path w="1043190" h="774835">
                <a:moveTo>
                  <a:pt x="41047" y="0"/>
                </a:moveTo>
                <a:lnTo>
                  <a:pt x="1002143" y="0"/>
                </a:lnTo>
                <a:cubicBezTo>
                  <a:pt x="1013029" y="0"/>
                  <a:pt x="1023470" y="4325"/>
                  <a:pt x="1031167" y="12022"/>
                </a:cubicBezTo>
                <a:cubicBezTo>
                  <a:pt x="1038865" y="19720"/>
                  <a:pt x="1043190" y="30160"/>
                  <a:pt x="1043190" y="41047"/>
                </a:cubicBezTo>
                <a:lnTo>
                  <a:pt x="1043190" y="733789"/>
                </a:lnTo>
                <a:cubicBezTo>
                  <a:pt x="1043190" y="756458"/>
                  <a:pt x="1024812" y="774835"/>
                  <a:pt x="1002143" y="774835"/>
                </a:cubicBezTo>
                <a:lnTo>
                  <a:pt x="41047" y="774835"/>
                </a:lnTo>
                <a:cubicBezTo>
                  <a:pt x="30160" y="774835"/>
                  <a:pt x="19720" y="770511"/>
                  <a:pt x="12022" y="762813"/>
                </a:cubicBezTo>
                <a:cubicBezTo>
                  <a:pt x="4325" y="755115"/>
                  <a:pt x="0" y="744675"/>
                  <a:pt x="0" y="733789"/>
                </a:cubicBezTo>
                <a:lnTo>
                  <a:pt x="0" y="41047"/>
                </a:lnTo>
                <a:cubicBezTo>
                  <a:pt x="0" y="30160"/>
                  <a:pt x="4325" y="19720"/>
                  <a:pt x="12022" y="12022"/>
                </a:cubicBezTo>
                <a:cubicBezTo>
                  <a:pt x="19720" y="4325"/>
                  <a:pt x="30160" y="0"/>
                  <a:pt x="41047" y="0"/>
                </a:cubicBezTo>
                <a:close/>
              </a:path>
            </a:pathLst>
          </a:custGeom>
          <a:ln w="28575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6CB0C3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6FD321-21AF-9C22-BF7A-ED7FC13333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408" y="6056958"/>
            <a:ext cx="14327599" cy="36676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4AC509-36FC-E0F5-86C4-11DA5644B8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407" y="6052326"/>
            <a:ext cx="14327599" cy="36581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0652E7F-FF09-3A8A-E279-405BD43B2830}"/>
              </a:ext>
            </a:extLst>
          </p:cNvPr>
          <p:cNvSpPr txBox="1"/>
          <p:nvPr/>
        </p:nvSpPr>
        <p:spPr>
          <a:xfrm>
            <a:off x="2171700" y="4000500"/>
            <a:ext cx="13944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The Direct Fit for the €800K Single-Property Rule:</a:t>
            </a:r>
          </a:p>
          <a:p>
            <a:r>
              <a:rPr lang="en-GB" sz="2000" dirty="0">
                <a:solidFill>
                  <a:schemeClr val="bg1"/>
                </a:solidFill>
              </a:rPr>
              <a:t>In the </a:t>
            </a:r>
            <a:r>
              <a:rPr lang="en-GB" sz="2000" dirty="0" err="1">
                <a:solidFill>
                  <a:schemeClr val="bg1"/>
                </a:solidFill>
              </a:rPr>
              <a:t>Pangrati</a:t>
            </a:r>
            <a:r>
              <a:rPr lang="en-GB" sz="2000" dirty="0">
                <a:solidFill>
                  <a:schemeClr val="bg1"/>
                </a:solidFill>
              </a:rPr>
              <a:t>-Mets tree, a property sizing up to exactly </a:t>
            </a:r>
            <a:r>
              <a:rPr lang="en-GB" sz="2000" b="1" dirty="0">
                <a:solidFill>
                  <a:schemeClr val="bg1"/>
                </a:solidFill>
              </a:rPr>
              <a:t>120 sqm</a:t>
            </a:r>
            <a:r>
              <a:rPr lang="en-GB" sz="2000" dirty="0">
                <a:solidFill>
                  <a:schemeClr val="bg1"/>
                </a:solidFill>
              </a:rPr>
              <a:t> commands a high premium of </a:t>
            </a:r>
            <a:r>
              <a:rPr lang="en-GB" sz="2000" b="1" dirty="0">
                <a:solidFill>
                  <a:schemeClr val="bg1"/>
                </a:solidFill>
              </a:rPr>
              <a:t>7,600.99</a:t>
            </a:r>
            <a:r>
              <a:rPr lang="en-GB" sz="2000" dirty="0">
                <a:solidFill>
                  <a:schemeClr val="bg1"/>
                </a:solidFill>
              </a:rPr>
              <a:t> per square meter. Multiplying this rate by the 120 sqm footprint places the total asset value at </a:t>
            </a:r>
            <a:r>
              <a:rPr lang="en-GB" sz="2000" b="1" dirty="0">
                <a:solidFill>
                  <a:schemeClr val="bg1"/>
                </a:solidFill>
              </a:rPr>
              <a:t>€912,118</a:t>
            </a:r>
            <a:r>
              <a:rPr lang="en-GB" sz="2000" dirty="0">
                <a:solidFill>
                  <a:schemeClr val="bg1"/>
                </a:solidFill>
              </a:rPr>
              <a:t>. This specific configuration is heavily driven by Golden Visa buyers because it flawlessly </a:t>
            </a:r>
            <a:r>
              <a:rPr lang="en-GB" sz="2000" dirty="0" err="1">
                <a:solidFill>
                  <a:schemeClr val="bg1"/>
                </a:solidFill>
              </a:rPr>
              <a:t>fulfills</a:t>
            </a:r>
            <a:r>
              <a:rPr lang="en-GB" sz="2000" dirty="0">
                <a:solidFill>
                  <a:schemeClr val="bg1"/>
                </a:solidFill>
              </a:rPr>
              <a:t> the exact dual legal criteria for prime Athens zones: it satisfies the mandatory </a:t>
            </a:r>
            <a:r>
              <a:rPr lang="en-GB" sz="2000" b="1" dirty="0">
                <a:solidFill>
                  <a:schemeClr val="bg1"/>
                </a:solidFill>
              </a:rPr>
              <a:t>120 sqm minimum usable area rule</a:t>
            </a:r>
            <a:r>
              <a:rPr lang="en-GB" sz="2000" dirty="0">
                <a:solidFill>
                  <a:schemeClr val="bg1"/>
                </a:solidFill>
              </a:rPr>
              <a:t> while easily clearing the </a:t>
            </a:r>
            <a:r>
              <a:rPr lang="en-GB" sz="2000" b="1" dirty="0">
                <a:solidFill>
                  <a:schemeClr val="bg1"/>
                </a:solidFill>
              </a:rPr>
              <a:t>€800,000 investment floor</a:t>
            </a:r>
            <a:r>
              <a:rPr lang="en-GB" sz="2000" dirty="0">
                <a:solidFill>
                  <a:schemeClr val="bg1"/>
                </a:solidFill>
              </a:rPr>
              <a:t> with a single residential purchase.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9C4E42-8CB5-F7F9-EE1D-B7765667B8A5}"/>
              </a:ext>
            </a:extLst>
          </p:cNvPr>
          <p:cNvSpPr txBox="1"/>
          <p:nvPr/>
        </p:nvSpPr>
        <p:spPr>
          <a:xfrm>
            <a:off x="2171700" y="2016621"/>
            <a:ext cx="13944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solidFill>
                  <a:schemeClr val="bg1"/>
                </a:solidFill>
              </a:rPr>
              <a:t>The €800K Single-Property Target:</a:t>
            </a:r>
          </a:p>
          <a:p>
            <a:r>
              <a:rPr lang="en-GB" sz="2000" dirty="0">
                <a:solidFill>
                  <a:schemeClr val="bg1"/>
                </a:solidFill>
              </a:rPr>
              <a:t>In the Historic </a:t>
            </a:r>
            <a:r>
              <a:rPr lang="en-GB" sz="2000" dirty="0" err="1">
                <a:solidFill>
                  <a:schemeClr val="bg1"/>
                </a:solidFill>
              </a:rPr>
              <a:t>Center</a:t>
            </a:r>
            <a:r>
              <a:rPr lang="en-GB" sz="2000" dirty="0">
                <a:solidFill>
                  <a:schemeClr val="bg1"/>
                </a:solidFill>
              </a:rPr>
              <a:t> branch, a 150 sqm premium property commands a median price of </a:t>
            </a:r>
            <a:r>
              <a:rPr lang="en-GB" sz="2000" b="1" dirty="0">
                <a:solidFill>
                  <a:schemeClr val="bg1"/>
                </a:solidFill>
              </a:rPr>
              <a:t>23,333.33</a:t>
            </a:r>
            <a:r>
              <a:rPr lang="en-GB" sz="2000" dirty="0">
                <a:solidFill>
                  <a:schemeClr val="bg1"/>
                </a:solidFill>
              </a:rPr>
              <a:t> per square meter. Multiplying this rate by the 150 sqm size brings the total asset value to </a:t>
            </a:r>
            <a:r>
              <a:rPr lang="en-GB" sz="2000" b="1" dirty="0">
                <a:solidFill>
                  <a:schemeClr val="bg1"/>
                </a:solidFill>
              </a:rPr>
              <a:t>€3.5 million</a:t>
            </a:r>
            <a:r>
              <a:rPr lang="en-GB" sz="2000" dirty="0">
                <a:solidFill>
                  <a:schemeClr val="bg1"/>
                </a:solidFill>
              </a:rPr>
              <a:t>. This massive valuation demonstrates how premium assets in the core are tailored to comfortably clear the strict </a:t>
            </a:r>
            <a:r>
              <a:rPr lang="en-GB" sz="2000" b="1" dirty="0">
                <a:solidFill>
                  <a:schemeClr val="bg1"/>
                </a:solidFill>
              </a:rPr>
              <a:t>€800K minimum threshold</a:t>
            </a:r>
            <a:r>
              <a:rPr lang="en-GB" sz="2000" dirty="0">
                <a:solidFill>
                  <a:schemeClr val="bg1"/>
                </a:solidFill>
              </a:rPr>
              <a:t> and easily </a:t>
            </a:r>
            <a:r>
              <a:rPr lang="en-GB" sz="2000" dirty="0" err="1">
                <a:solidFill>
                  <a:schemeClr val="bg1"/>
                </a:solidFill>
              </a:rPr>
              <a:t>fulfill</a:t>
            </a:r>
            <a:r>
              <a:rPr lang="en-GB" sz="2000" dirty="0">
                <a:solidFill>
                  <a:schemeClr val="bg1"/>
                </a:solidFill>
              </a:rPr>
              <a:t> the modern </a:t>
            </a:r>
            <a:r>
              <a:rPr lang="en-GB" sz="2000" b="1" dirty="0">
                <a:solidFill>
                  <a:schemeClr val="bg1"/>
                </a:solidFill>
              </a:rPr>
              <a:t>120 sqm minimum surface area rule</a:t>
            </a:r>
            <a:r>
              <a:rPr lang="en-GB" sz="2000" dirty="0">
                <a:solidFill>
                  <a:schemeClr val="bg1"/>
                </a:solidFill>
              </a:rPr>
              <a:t> required for a single-property application in the Attica region.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65341EA7-7FB6-A125-40CE-959416D257AE}"/>
              </a:ext>
            </a:extLst>
          </p:cNvPr>
          <p:cNvSpPr txBox="1"/>
          <p:nvPr/>
        </p:nvSpPr>
        <p:spPr>
          <a:xfrm>
            <a:off x="10952396" y="934721"/>
            <a:ext cx="261120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Smart Investor</a:t>
            </a: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51FC28CD-115E-1C2F-8A26-25F6256074F6}"/>
              </a:ext>
            </a:extLst>
          </p:cNvPr>
          <p:cNvSpPr/>
          <p:nvPr/>
        </p:nvSpPr>
        <p:spPr>
          <a:xfrm rot="10800000">
            <a:off x="13421138" y="854784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184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8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650"/>
                            </p:stCondLst>
                            <p:childTnLst>
                              <p:par>
                                <p:cTn id="16" presetID="10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8" accel="8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2" decel="8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30" presetClass="emph" presetSubtype="0" fill="hold" grpId="2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3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4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8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" presetClass="exit" presetSubtype="8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1" grpId="0"/>
      <p:bldP spid="11" grpId="2"/>
      <p:bldP spid="11" grpId="3"/>
      <p:bldP spid="11" grpId="4"/>
      <p:bldP spid="13" grpId="1"/>
      <p:bldP spid="13" grpId="2"/>
      <p:bldP spid="13" grpId="3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15C739-86EC-F07E-AA6D-448737584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 2">
            <a:extLst>
              <a:ext uri="{FF2B5EF4-FFF2-40B4-BE49-F238E27FC236}">
                <a16:creationId xmlns:a16="http://schemas.microsoft.com/office/drawing/2014/main" id="{72D36E21-3659-98B1-28D0-0020153F1415}"/>
              </a:ext>
            </a:extLst>
          </p:cNvPr>
          <p:cNvSpPr/>
          <p:nvPr/>
        </p:nvSpPr>
        <p:spPr>
          <a:xfrm>
            <a:off x="1818269" y="846268"/>
            <a:ext cx="516732" cy="381898"/>
          </a:xfrm>
          <a:custGeom>
            <a:avLst/>
            <a:gdLst/>
            <a:ahLst/>
            <a:cxnLst/>
            <a:rect l="l" t="t" r="r" b="b"/>
            <a:pathLst>
              <a:path w="516732" h="381898">
                <a:moveTo>
                  <a:pt x="0" y="0"/>
                </a:moveTo>
                <a:lnTo>
                  <a:pt x="516733" y="0"/>
                </a:lnTo>
                <a:lnTo>
                  <a:pt x="516733" y="381898"/>
                </a:lnTo>
                <a:lnTo>
                  <a:pt x="0" y="381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9571536B-2C17-6CCA-C4A5-57103E07D16D}"/>
              </a:ext>
            </a:extLst>
          </p:cNvPr>
          <p:cNvSpPr txBox="1"/>
          <p:nvPr/>
        </p:nvSpPr>
        <p:spPr>
          <a:xfrm>
            <a:off x="15935932" y="924554"/>
            <a:ext cx="1522880" cy="25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Page</a:t>
            </a:r>
            <a:r>
              <a:rPr lang="en-US" sz="186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005</a:t>
            </a: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6822CF9B-64BF-11B0-2CA7-BD3F62685BE7}"/>
              </a:ext>
            </a:extLst>
          </p:cNvPr>
          <p:cNvSpPr txBox="1"/>
          <p:nvPr/>
        </p:nvSpPr>
        <p:spPr>
          <a:xfrm>
            <a:off x="2650291" y="934721"/>
            <a:ext cx="1636464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 panose="020B0604020202020204" charset="0"/>
                <a:ea typeface="TT Norms"/>
                <a:cs typeface="TT Norms"/>
                <a:sym typeface="TT Norms"/>
              </a:rPr>
              <a:t>Market Overview</a:t>
            </a:r>
          </a:p>
        </p:txBody>
      </p:sp>
      <p:sp>
        <p:nvSpPr>
          <p:cNvPr id="33" name="TextBox 11">
            <a:extLst>
              <a:ext uri="{FF2B5EF4-FFF2-40B4-BE49-F238E27FC236}">
                <a16:creationId xmlns:a16="http://schemas.microsoft.com/office/drawing/2014/main" id="{46EE8BD6-9AE1-FCF5-76D0-68810BDFD30C}"/>
              </a:ext>
            </a:extLst>
          </p:cNvPr>
          <p:cNvSpPr txBox="1"/>
          <p:nvPr/>
        </p:nvSpPr>
        <p:spPr>
          <a:xfrm>
            <a:off x="4603428" y="934721"/>
            <a:ext cx="2406972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Neighborhood Deep Dive</a:t>
            </a: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7354AF21-732A-D3BD-7855-CD1BCC568150}"/>
              </a:ext>
            </a:extLst>
          </p:cNvPr>
          <p:cNvSpPr txBox="1"/>
          <p:nvPr/>
        </p:nvSpPr>
        <p:spPr>
          <a:xfrm>
            <a:off x="7346628" y="934721"/>
            <a:ext cx="13359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Energy Trends</a:t>
            </a:r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98D8FBDC-31C4-D384-C4C8-BDF856B1FCA2}"/>
              </a:ext>
            </a:extLst>
          </p:cNvPr>
          <p:cNvSpPr txBox="1"/>
          <p:nvPr/>
        </p:nvSpPr>
        <p:spPr>
          <a:xfrm>
            <a:off x="9018812" y="934721"/>
            <a:ext cx="15973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Premium Listings</a:t>
            </a:r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419F61E2-80B6-0A86-2E61-A51EB2811930}"/>
              </a:ext>
            </a:extLst>
          </p:cNvPr>
          <p:cNvSpPr txBox="1"/>
          <p:nvPr/>
        </p:nvSpPr>
        <p:spPr>
          <a:xfrm>
            <a:off x="10952396" y="934721"/>
            <a:ext cx="2611206" cy="2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Smart Investor</a:t>
            </a:r>
          </a:p>
        </p:txBody>
      </p:sp>
      <p:sp>
        <p:nvSpPr>
          <p:cNvPr id="2" name="Freeform 5">
            <a:extLst>
              <a:ext uri="{FF2B5EF4-FFF2-40B4-BE49-F238E27FC236}">
                <a16:creationId xmlns:a16="http://schemas.microsoft.com/office/drawing/2014/main" id="{01BE3038-09FF-AE9C-CE0F-59317DC678FD}"/>
              </a:ext>
            </a:extLst>
          </p:cNvPr>
          <p:cNvSpPr/>
          <p:nvPr/>
        </p:nvSpPr>
        <p:spPr>
          <a:xfrm>
            <a:off x="1652151" y="2847974"/>
            <a:ext cx="6082761" cy="6940909"/>
          </a:xfrm>
          <a:custGeom>
            <a:avLst/>
            <a:gdLst/>
            <a:ahLst/>
            <a:cxnLst/>
            <a:rect l="l" t="t" r="r" b="b"/>
            <a:pathLst>
              <a:path w="6082761" h="6940909">
                <a:moveTo>
                  <a:pt x="0" y="0"/>
                </a:moveTo>
                <a:lnTo>
                  <a:pt x="6082761" y="0"/>
                </a:lnTo>
                <a:lnTo>
                  <a:pt x="6082761" y="6940910"/>
                </a:lnTo>
                <a:lnTo>
                  <a:pt x="0" y="69409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6">
            <a:extLst>
              <a:ext uri="{FF2B5EF4-FFF2-40B4-BE49-F238E27FC236}">
                <a16:creationId xmlns:a16="http://schemas.microsoft.com/office/drawing/2014/main" id="{A5965C20-8457-7560-A4A4-2692AC3B5794}"/>
              </a:ext>
            </a:extLst>
          </p:cNvPr>
          <p:cNvSpPr/>
          <p:nvPr/>
        </p:nvSpPr>
        <p:spPr>
          <a:xfrm>
            <a:off x="5878544" y="3309519"/>
            <a:ext cx="1965945" cy="1533437"/>
          </a:xfrm>
          <a:custGeom>
            <a:avLst/>
            <a:gdLst/>
            <a:ahLst/>
            <a:cxnLst/>
            <a:rect l="l" t="t" r="r" b="b"/>
            <a:pathLst>
              <a:path w="1965945" h="1533437">
                <a:moveTo>
                  <a:pt x="0" y="0"/>
                </a:moveTo>
                <a:lnTo>
                  <a:pt x="1965944" y="0"/>
                </a:lnTo>
                <a:lnTo>
                  <a:pt x="1965944" y="1533436"/>
                </a:lnTo>
                <a:lnTo>
                  <a:pt x="0" y="15334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1C36F890-E7ED-0158-B8BE-F612AB715FAE}"/>
              </a:ext>
            </a:extLst>
          </p:cNvPr>
          <p:cNvSpPr txBox="1"/>
          <p:nvPr/>
        </p:nvSpPr>
        <p:spPr>
          <a:xfrm>
            <a:off x="8906487" y="2417123"/>
            <a:ext cx="5037154" cy="115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10"/>
              </a:lnSpc>
            </a:pPr>
            <a:r>
              <a:rPr lang="en-US" sz="8524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Smart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21A990CC-C151-2F92-D38E-B79BC1F9FD0E}"/>
              </a:ext>
            </a:extLst>
          </p:cNvPr>
          <p:cNvSpPr txBox="1"/>
          <p:nvPr/>
        </p:nvSpPr>
        <p:spPr>
          <a:xfrm>
            <a:off x="8906487" y="3462588"/>
            <a:ext cx="4199913" cy="1155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10"/>
              </a:lnSpc>
            </a:pPr>
            <a:r>
              <a:rPr lang="en-US" sz="8524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Investor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8515C69D-B9BD-431C-544B-46DFCC8B32B0}"/>
              </a:ext>
            </a:extLst>
          </p:cNvPr>
          <p:cNvSpPr txBox="1"/>
          <p:nvPr/>
        </p:nvSpPr>
        <p:spPr>
          <a:xfrm>
            <a:off x="8938111" y="4871530"/>
            <a:ext cx="7494904" cy="3385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GB" sz="2000" dirty="0">
                <a:solidFill>
                  <a:schemeClr val="bg1"/>
                </a:solidFill>
              </a:rPr>
              <a:t>This platform serves as our strategic command </a:t>
            </a:r>
            <a:r>
              <a:rPr lang="en-GB" sz="2000" dirty="0" err="1">
                <a:solidFill>
                  <a:schemeClr val="bg1"/>
                </a:solidFill>
              </a:rPr>
              <a:t>center</a:t>
            </a:r>
            <a:r>
              <a:rPr lang="en-GB" sz="2000" dirty="0">
                <a:solidFill>
                  <a:schemeClr val="bg1"/>
                </a:solidFill>
              </a:rPr>
              <a:t> for the Athens real estate market, transforming raw listing data into actionable investment intelligence. By synthesizing core asset characteristics—such as renovation status, floor level, parking availability, and top-tier energy efficiency—with localized price variances, the platform instantly isolates market inefficiencies. Through this analytical engine, the dashboard cross-references a property’s premium physical attributes against its pricing delta to calculate a dynamic desirability index. This enables us to immediately identify high-spec assets trading significantly below their district's true market value, replacing speculative guesswork with data-driven value arbitrage.</a:t>
            </a:r>
            <a:endParaRPr lang="en-US" sz="2000" dirty="0">
              <a:solidFill>
                <a:schemeClr val="bg1"/>
              </a:solidFill>
              <a:latin typeface="TT Norms"/>
              <a:ea typeface="TT Norms"/>
              <a:cs typeface="TT Norms"/>
              <a:sym typeface="TT Norms"/>
            </a:endParaRPr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5928B0A4-CCBD-CCB3-A62D-3005807F81A7}"/>
              </a:ext>
            </a:extLst>
          </p:cNvPr>
          <p:cNvSpPr/>
          <p:nvPr/>
        </p:nvSpPr>
        <p:spPr>
          <a:xfrm rot="10800000">
            <a:off x="13421138" y="854784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8515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  <p:bldP spid="4" grpId="0"/>
      <p:bldP spid="4" grpId="1"/>
      <p:bldP spid="14" grpId="0"/>
      <p:bldP spid="14" grpId="1"/>
      <p:bldP spid="15" grpId="0"/>
      <p:bldP spid="1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1330306" y="3902076"/>
            <a:ext cx="4352959" cy="791761"/>
            <a:chOff x="0" y="0"/>
            <a:chExt cx="1146458" cy="20853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6458" cy="208530"/>
            </a:xfrm>
            <a:custGeom>
              <a:avLst/>
              <a:gdLst/>
              <a:ahLst/>
              <a:cxnLst/>
              <a:rect l="l" t="t" r="r" b="b"/>
              <a:pathLst>
                <a:path w="1146458" h="208530">
                  <a:moveTo>
                    <a:pt x="37349" y="0"/>
                  </a:moveTo>
                  <a:lnTo>
                    <a:pt x="1109109" y="0"/>
                  </a:lnTo>
                  <a:cubicBezTo>
                    <a:pt x="1119015" y="0"/>
                    <a:pt x="1128515" y="3935"/>
                    <a:pt x="1135519" y="10939"/>
                  </a:cubicBezTo>
                  <a:cubicBezTo>
                    <a:pt x="1142523" y="17944"/>
                    <a:pt x="1146458" y="27444"/>
                    <a:pt x="1146458" y="37349"/>
                  </a:cubicBezTo>
                  <a:lnTo>
                    <a:pt x="1146458" y="171180"/>
                  </a:lnTo>
                  <a:cubicBezTo>
                    <a:pt x="1146458" y="191808"/>
                    <a:pt x="1129736" y="208530"/>
                    <a:pt x="1109109" y="208530"/>
                  </a:cubicBezTo>
                  <a:lnTo>
                    <a:pt x="37349" y="208530"/>
                  </a:lnTo>
                  <a:cubicBezTo>
                    <a:pt x="27444" y="208530"/>
                    <a:pt x="17944" y="204595"/>
                    <a:pt x="10939" y="197590"/>
                  </a:cubicBezTo>
                  <a:cubicBezTo>
                    <a:pt x="3935" y="190586"/>
                    <a:pt x="0" y="181086"/>
                    <a:pt x="0" y="171180"/>
                  </a:cubicBezTo>
                  <a:lnTo>
                    <a:pt x="0" y="37349"/>
                  </a:lnTo>
                  <a:cubicBezTo>
                    <a:pt x="0" y="27444"/>
                    <a:pt x="3935" y="17944"/>
                    <a:pt x="10939" y="10939"/>
                  </a:cubicBezTo>
                  <a:cubicBezTo>
                    <a:pt x="17944" y="3935"/>
                    <a:pt x="27444" y="0"/>
                    <a:pt x="37349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8100"/>
              <a:ext cx="1146458" cy="170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531739" y="3902076"/>
            <a:ext cx="4017093" cy="791761"/>
            <a:chOff x="0" y="0"/>
            <a:chExt cx="1058000" cy="208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58000" cy="208530"/>
            </a:xfrm>
            <a:custGeom>
              <a:avLst/>
              <a:gdLst/>
              <a:ahLst/>
              <a:cxnLst/>
              <a:rect l="l" t="t" r="r" b="b"/>
              <a:pathLst>
                <a:path w="1058000" h="208530">
                  <a:moveTo>
                    <a:pt x="40472" y="0"/>
                  </a:moveTo>
                  <a:lnTo>
                    <a:pt x="1017528" y="0"/>
                  </a:lnTo>
                  <a:cubicBezTo>
                    <a:pt x="1028261" y="0"/>
                    <a:pt x="1038556" y="4264"/>
                    <a:pt x="1046146" y="11854"/>
                  </a:cubicBezTo>
                  <a:cubicBezTo>
                    <a:pt x="1053736" y="19444"/>
                    <a:pt x="1058000" y="29738"/>
                    <a:pt x="1058000" y="40472"/>
                  </a:cubicBezTo>
                  <a:lnTo>
                    <a:pt x="1058000" y="168058"/>
                  </a:lnTo>
                  <a:cubicBezTo>
                    <a:pt x="1058000" y="178791"/>
                    <a:pt x="1053736" y="189086"/>
                    <a:pt x="1046146" y="196676"/>
                  </a:cubicBezTo>
                  <a:cubicBezTo>
                    <a:pt x="1038556" y="204266"/>
                    <a:pt x="1028261" y="208530"/>
                    <a:pt x="1017528" y="208530"/>
                  </a:cubicBezTo>
                  <a:lnTo>
                    <a:pt x="40472" y="208530"/>
                  </a:lnTo>
                  <a:cubicBezTo>
                    <a:pt x="29738" y="208530"/>
                    <a:pt x="19444" y="204266"/>
                    <a:pt x="11854" y="196676"/>
                  </a:cubicBezTo>
                  <a:cubicBezTo>
                    <a:pt x="4264" y="189086"/>
                    <a:pt x="0" y="178791"/>
                    <a:pt x="0" y="168058"/>
                  </a:cubicBezTo>
                  <a:lnTo>
                    <a:pt x="0" y="40472"/>
                  </a:lnTo>
                  <a:cubicBezTo>
                    <a:pt x="0" y="29738"/>
                    <a:pt x="4264" y="19444"/>
                    <a:pt x="11854" y="11854"/>
                  </a:cubicBezTo>
                  <a:cubicBezTo>
                    <a:pt x="19444" y="4264"/>
                    <a:pt x="29738" y="0"/>
                    <a:pt x="40472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38100"/>
              <a:ext cx="1058000" cy="170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85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454864" y="3962102"/>
            <a:ext cx="4622926" cy="6324898"/>
          </a:xfrm>
          <a:custGeom>
            <a:avLst/>
            <a:gdLst/>
            <a:ahLst/>
            <a:cxnLst/>
            <a:rect l="l" t="t" r="r" b="b"/>
            <a:pathLst>
              <a:path w="4622926" h="6324898">
                <a:moveTo>
                  <a:pt x="0" y="0"/>
                </a:moveTo>
                <a:lnTo>
                  <a:pt x="4622926" y="0"/>
                </a:lnTo>
                <a:lnTo>
                  <a:pt x="4622926" y="6324898"/>
                </a:lnTo>
                <a:lnTo>
                  <a:pt x="0" y="6324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5126630" y="2166130"/>
            <a:ext cx="3963604" cy="1155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10"/>
              </a:lnSpc>
            </a:pPr>
            <a:r>
              <a:rPr lang="en-US" sz="8524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Custom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88677" y="2166130"/>
            <a:ext cx="3841523" cy="11550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10"/>
              </a:lnSpc>
            </a:pPr>
            <a:r>
              <a:rPr lang="en-US" sz="8524" b="1" dirty="0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Metrics</a:t>
            </a:r>
          </a:p>
        </p:txBody>
      </p:sp>
      <p:sp>
        <p:nvSpPr>
          <p:cNvPr id="19" name="Freeform 19"/>
          <p:cNvSpPr/>
          <p:nvPr/>
        </p:nvSpPr>
        <p:spPr>
          <a:xfrm>
            <a:off x="6140465" y="4297957"/>
            <a:ext cx="4705927" cy="2626763"/>
          </a:xfrm>
          <a:custGeom>
            <a:avLst/>
            <a:gdLst/>
            <a:ahLst/>
            <a:cxnLst/>
            <a:rect l="l" t="t" r="r" b="b"/>
            <a:pathLst>
              <a:path w="4705927" h="2626763">
                <a:moveTo>
                  <a:pt x="0" y="0"/>
                </a:moveTo>
                <a:lnTo>
                  <a:pt x="4705927" y="0"/>
                </a:lnTo>
                <a:lnTo>
                  <a:pt x="4705927" y="2626763"/>
                </a:lnTo>
                <a:lnTo>
                  <a:pt x="0" y="26267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20" name="TextBox 20"/>
          <p:cNvSpPr txBox="1"/>
          <p:nvPr/>
        </p:nvSpPr>
        <p:spPr>
          <a:xfrm>
            <a:off x="2110786" y="4158794"/>
            <a:ext cx="2791998" cy="335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470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Market Heat Index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424119" y="4158794"/>
            <a:ext cx="2232331" cy="3354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95"/>
              </a:lnSpc>
            </a:pPr>
            <a:r>
              <a:rPr lang="en-US" sz="2470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Discount Score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97134" y="5046262"/>
            <a:ext cx="3758096" cy="3004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84"/>
              </a:lnSpc>
            </a:pPr>
            <a:r>
              <a:rPr lang="en-GB" dirty="0">
                <a:solidFill>
                  <a:schemeClr val="bg1"/>
                </a:solidFill>
              </a:rPr>
              <a:t>The Market Heat Index (MHI) is a proprietary property-level desirability score that cross-references asset quality against market pricing. The algorithm first scores an individual property on a 100-point scale based on highly sought-after capital features in the Athens market: premium views, renovation status, dedicated parking, upper-floor elevation (4th floor or higher), and top-tier energy efficiency (A+, A, or B+). This baseline asset score is then dynamically adjusted by a price-variance multiplier. </a:t>
            </a:r>
            <a:endParaRPr lang="en-US" dirty="0">
              <a:solidFill>
                <a:schemeClr val="bg1"/>
              </a:solidFill>
              <a:ea typeface="TT Norms"/>
              <a:cs typeface="TT Norms"/>
              <a:sym typeface="TT Norm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661236" y="5143500"/>
            <a:ext cx="3758096" cy="2781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784"/>
              </a:lnSpc>
            </a:pPr>
            <a:r>
              <a:rPr lang="en-GB" dirty="0">
                <a:solidFill>
                  <a:schemeClr val="bg1"/>
                </a:solidFill>
              </a:rPr>
              <a:t>The Discount Score is a sophisticated value-arbitrage tool that identifies undervalued listings before the market corrects. It calculates the variance between a property’s asking price and its localized median, adjusted for condition and historical price drops. This metric enables investors to isolate "motivated seller" scenarios and high-margin opportunities, effectively de-risking the entry point in high-growth Athenian </a:t>
            </a:r>
            <a:r>
              <a:rPr lang="en-GB" dirty="0" err="1">
                <a:solidFill>
                  <a:schemeClr val="bg1"/>
                </a:solidFill>
              </a:rPr>
              <a:t>neighborhoods</a:t>
            </a:r>
            <a:r>
              <a:rPr lang="en-GB" dirty="0">
                <a:solidFill>
                  <a:schemeClr val="bg1"/>
                </a:solidFill>
              </a:rPr>
              <a:t>.</a:t>
            </a:r>
            <a:endParaRPr lang="en-US" dirty="0">
              <a:solidFill>
                <a:schemeClr val="bg1"/>
              </a:solidFill>
              <a:latin typeface="TT Norms"/>
              <a:ea typeface="TT Norms"/>
              <a:cs typeface="TT Norms"/>
              <a:sym typeface="TT Norms"/>
            </a:endParaRPr>
          </a:p>
        </p:txBody>
      </p:sp>
      <p:sp>
        <p:nvSpPr>
          <p:cNvPr id="28" name="Freeform 2">
            <a:extLst>
              <a:ext uri="{FF2B5EF4-FFF2-40B4-BE49-F238E27FC236}">
                <a16:creationId xmlns:a16="http://schemas.microsoft.com/office/drawing/2014/main" id="{140B34E9-B2BF-1FAF-C79F-244E150E1BC4}"/>
              </a:ext>
            </a:extLst>
          </p:cNvPr>
          <p:cNvSpPr/>
          <p:nvPr/>
        </p:nvSpPr>
        <p:spPr>
          <a:xfrm>
            <a:off x="1818269" y="846268"/>
            <a:ext cx="516732" cy="381898"/>
          </a:xfrm>
          <a:custGeom>
            <a:avLst/>
            <a:gdLst/>
            <a:ahLst/>
            <a:cxnLst/>
            <a:rect l="l" t="t" r="r" b="b"/>
            <a:pathLst>
              <a:path w="516732" h="381898">
                <a:moveTo>
                  <a:pt x="0" y="0"/>
                </a:moveTo>
                <a:lnTo>
                  <a:pt x="516733" y="0"/>
                </a:lnTo>
                <a:lnTo>
                  <a:pt x="516733" y="381898"/>
                </a:lnTo>
                <a:lnTo>
                  <a:pt x="0" y="381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F4B3651F-8847-3E62-B602-6CE7EDAC7C24}"/>
              </a:ext>
            </a:extLst>
          </p:cNvPr>
          <p:cNvSpPr txBox="1"/>
          <p:nvPr/>
        </p:nvSpPr>
        <p:spPr>
          <a:xfrm>
            <a:off x="15935932" y="924554"/>
            <a:ext cx="1522880" cy="25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Page</a:t>
            </a:r>
            <a:r>
              <a:rPr lang="en-US" sz="186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005</a:t>
            </a: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A2AE6861-7973-20F2-8D8C-32EE568F589B}"/>
              </a:ext>
            </a:extLst>
          </p:cNvPr>
          <p:cNvSpPr txBox="1"/>
          <p:nvPr/>
        </p:nvSpPr>
        <p:spPr>
          <a:xfrm>
            <a:off x="2650291" y="934721"/>
            <a:ext cx="1636464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 panose="020B0604020202020204" charset="0"/>
                <a:ea typeface="TT Norms"/>
                <a:cs typeface="TT Norms"/>
                <a:sym typeface="TT Norms"/>
              </a:rPr>
              <a:t>Market Overview</a:t>
            </a:r>
          </a:p>
        </p:txBody>
      </p:sp>
      <p:sp>
        <p:nvSpPr>
          <p:cNvPr id="33" name="TextBox 11">
            <a:extLst>
              <a:ext uri="{FF2B5EF4-FFF2-40B4-BE49-F238E27FC236}">
                <a16:creationId xmlns:a16="http://schemas.microsoft.com/office/drawing/2014/main" id="{47AF95AE-EF00-D7D1-3AA4-F4DFAD1BBF25}"/>
              </a:ext>
            </a:extLst>
          </p:cNvPr>
          <p:cNvSpPr txBox="1"/>
          <p:nvPr/>
        </p:nvSpPr>
        <p:spPr>
          <a:xfrm>
            <a:off x="4603428" y="934721"/>
            <a:ext cx="2406972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Neighborhood Deep Dive</a:t>
            </a: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19623434-F3A4-6558-50AE-8644F1F1D19C}"/>
              </a:ext>
            </a:extLst>
          </p:cNvPr>
          <p:cNvSpPr txBox="1"/>
          <p:nvPr/>
        </p:nvSpPr>
        <p:spPr>
          <a:xfrm>
            <a:off x="7346628" y="934721"/>
            <a:ext cx="13359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Energy Trends</a:t>
            </a:r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E348FA72-8BF0-E2D7-53F5-506358C093E9}"/>
              </a:ext>
            </a:extLst>
          </p:cNvPr>
          <p:cNvSpPr txBox="1"/>
          <p:nvPr/>
        </p:nvSpPr>
        <p:spPr>
          <a:xfrm>
            <a:off x="9018812" y="934721"/>
            <a:ext cx="15973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Premium Listings</a:t>
            </a:r>
          </a:p>
        </p:txBody>
      </p:sp>
      <p:sp>
        <p:nvSpPr>
          <p:cNvPr id="37" name="TextBox 11">
            <a:extLst>
              <a:ext uri="{FF2B5EF4-FFF2-40B4-BE49-F238E27FC236}">
                <a16:creationId xmlns:a16="http://schemas.microsoft.com/office/drawing/2014/main" id="{16FE37E7-04E8-0EBE-3FB3-FB12181E834B}"/>
              </a:ext>
            </a:extLst>
          </p:cNvPr>
          <p:cNvSpPr txBox="1"/>
          <p:nvPr/>
        </p:nvSpPr>
        <p:spPr>
          <a:xfrm>
            <a:off x="10952396" y="934721"/>
            <a:ext cx="2611206" cy="2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Smart Investor</a:t>
            </a: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C04CBB6-E96A-3D09-BBD3-4EC908FA19E0}"/>
              </a:ext>
            </a:extLst>
          </p:cNvPr>
          <p:cNvSpPr/>
          <p:nvPr/>
        </p:nvSpPr>
        <p:spPr>
          <a:xfrm rot="10800000">
            <a:off x="13421138" y="854784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2" grpId="0"/>
      <p:bldP spid="12" grpId="1"/>
      <p:bldP spid="13" grpId="0"/>
      <p:bldP spid="13" grpId="1"/>
      <p:bldP spid="19" grpId="0" animBg="1"/>
      <p:bldP spid="19" grpId="1" animBg="1"/>
      <p:bldP spid="20" grpId="0"/>
      <p:bldP spid="20" grpId="1"/>
      <p:bldP spid="22" grpId="0"/>
      <p:bldP spid="22" grpId="1"/>
      <p:bldP spid="24" grpId="0"/>
      <p:bldP spid="24" grpId="1"/>
      <p:bldP spid="25" grpId="0"/>
      <p:bldP spid="25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2">
            <a:extLst>
              <a:ext uri="{FF2B5EF4-FFF2-40B4-BE49-F238E27FC236}">
                <a16:creationId xmlns:a16="http://schemas.microsoft.com/office/drawing/2014/main" id="{5815ABEE-0140-D799-0DBF-991405D50D24}"/>
              </a:ext>
            </a:extLst>
          </p:cNvPr>
          <p:cNvSpPr/>
          <p:nvPr/>
        </p:nvSpPr>
        <p:spPr>
          <a:xfrm>
            <a:off x="1818269" y="846268"/>
            <a:ext cx="516732" cy="381898"/>
          </a:xfrm>
          <a:custGeom>
            <a:avLst/>
            <a:gdLst/>
            <a:ahLst/>
            <a:cxnLst/>
            <a:rect l="l" t="t" r="r" b="b"/>
            <a:pathLst>
              <a:path w="516732" h="381898">
                <a:moveTo>
                  <a:pt x="0" y="0"/>
                </a:moveTo>
                <a:lnTo>
                  <a:pt x="516733" y="0"/>
                </a:lnTo>
                <a:lnTo>
                  <a:pt x="516733" y="381898"/>
                </a:lnTo>
                <a:lnTo>
                  <a:pt x="0" y="381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7AA32EBD-9FAD-5056-74A3-22604CD49CE0}"/>
              </a:ext>
            </a:extLst>
          </p:cNvPr>
          <p:cNvSpPr txBox="1"/>
          <p:nvPr/>
        </p:nvSpPr>
        <p:spPr>
          <a:xfrm>
            <a:off x="15935932" y="924554"/>
            <a:ext cx="1522880" cy="25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Page</a:t>
            </a:r>
            <a:r>
              <a:rPr lang="en-US" sz="186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005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DBFCB5D7-33DC-4908-2AC4-02E07A8668DE}"/>
              </a:ext>
            </a:extLst>
          </p:cNvPr>
          <p:cNvSpPr txBox="1"/>
          <p:nvPr/>
        </p:nvSpPr>
        <p:spPr>
          <a:xfrm>
            <a:off x="2650291" y="934721"/>
            <a:ext cx="1636464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 panose="020B0604020202020204" charset="0"/>
                <a:ea typeface="TT Norms"/>
                <a:cs typeface="TT Norms"/>
                <a:sym typeface="TT Norms"/>
              </a:rPr>
              <a:t>Market Overview</a:t>
            </a: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D2460274-6E47-772E-FCE1-D7C97D1539F5}"/>
              </a:ext>
            </a:extLst>
          </p:cNvPr>
          <p:cNvSpPr txBox="1"/>
          <p:nvPr/>
        </p:nvSpPr>
        <p:spPr>
          <a:xfrm>
            <a:off x="4603428" y="934721"/>
            <a:ext cx="2406972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Neighborhood Deep Dive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C36260F8-C32D-3BF8-5399-AD9DFB128622}"/>
              </a:ext>
            </a:extLst>
          </p:cNvPr>
          <p:cNvSpPr txBox="1"/>
          <p:nvPr/>
        </p:nvSpPr>
        <p:spPr>
          <a:xfrm>
            <a:off x="7346628" y="934721"/>
            <a:ext cx="13359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Energy Trends</a:t>
            </a: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4299E574-AF6C-145C-81E0-D66B31A020D6}"/>
              </a:ext>
            </a:extLst>
          </p:cNvPr>
          <p:cNvSpPr txBox="1"/>
          <p:nvPr/>
        </p:nvSpPr>
        <p:spPr>
          <a:xfrm>
            <a:off x="9018812" y="934721"/>
            <a:ext cx="15973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Premium Listings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02A6D730-C401-FE2D-A85C-3FB165B0DA07}"/>
              </a:ext>
            </a:extLst>
          </p:cNvPr>
          <p:cNvSpPr txBox="1"/>
          <p:nvPr/>
        </p:nvSpPr>
        <p:spPr>
          <a:xfrm>
            <a:off x="10952396" y="934721"/>
            <a:ext cx="2611206" cy="2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Smart Investor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A5D651B2-EB92-8C73-5A00-C8DB1B4C5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613" y="1666804"/>
            <a:ext cx="9021434" cy="4877481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D204DF1B-80C0-A552-B625-84D31EC541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974" y="1671567"/>
            <a:ext cx="5249008" cy="4867954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1F77420-D0DD-A5E3-10CA-7ACF1D67FB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6819" y="6648022"/>
            <a:ext cx="3315163" cy="2000529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77CFADF1-7E19-5261-09F5-62FCEA9DCE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613" y="6625641"/>
            <a:ext cx="10955279" cy="3096057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2BA5724C-1EE8-4C6C-3FDD-49E7108A8B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6819" y="8715858"/>
            <a:ext cx="3327863" cy="1005840"/>
          </a:xfrm>
          <a:prstGeom prst="rect">
            <a:avLst/>
          </a:prstGeom>
        </p:spPr>
      </p:pic>
      <p:sp>
        <p:nvSpPr>
          <p:cNvPr id="3" name="Freeform 3">
            <a:extLst>
              <a:ext uri="{FF2B5EF4-FFF2-40B4-BE49-F238E27FC236}">
                <a16:creationId xmlns:a16="http://schemas.microsoft.com/office/drawing/2014/main" id="{E28172FE-8F88-86C7-21F8-884A90EE0403}"/>
              </a:ext>
            </a:extLst>
          </p:cNvPr>
          <p:cNvSpPr/>
          <p:nvPr/>
        </p:nvSpPr>
        <p:spPr>
          <a:xfrm rot="10800000">
            <a:off x="13421138" y="854784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2" accel="8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" presetClass="exit" presetSubtype="2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" presetClass="exit" presetSubtype="8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2" presetClass="exit" presetSubtype="8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2" presetClass="exit" presetSubtype="8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63E950-A6AE-A5B5-32E4-11E6AC09C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2">
            <a:extLst>
              <a:ext uri="{FF2B5EF4-FFF2-40B4-BE49-F238E27FC236}">
                <a16:creationId xmlns:a16="http://schemas.microsoft.com/office/drawing/2014/main" id="{60CAE28A-3268-7217-C107-A37F8E85B84E}"/>
              </a:ext>
            </a:extLst>
          </p:cNvPr>
          <p:cNvSpPr/>
          <p:nvPr/>
        </p:nvSpPr>
        <p:spPr>
          <a:xfrm>
            <a:off x="1818269" y="846268"/>
            <a:ext cx="516732" cy="381898"/>
          </a:xfrm>
          <a:custGeom>
            <a:avLst/>
            <a:gdLst/>
            <a:ahLst/>
            <a:cxnLst/>
            <a:rect l="l" t="t" r="r" b="b"/>
            <a:pathLst>
              <a:path w="516732" h="381898">
                <a:moveTo>
                  <a:pt x="0" y="0"/>
                </a:moveTo>
                <a:lnTo>
                  <a:pt x="516733" y="0"/>
                </a:lnTo>
                <a:lnTo>
                  <a:pt x="516733" y="381898"/>
                </a:lnTo>
                <a:lnTo>
                  <a:pt x="0" y="381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7660025A-149A-DFED-A0DE-AF77E97A2FB0}"/>
              </a:ext>
            </a:extLst>
          </p:cNvPr>
          <p:cNvSpPr txBox="1"/>
          <p:nvPr/>
        </p:nvSpPr>
        <p:spPr>
          <a:xfrm>
            <a:off x="15935932" y="924554"/>
            <a:ext cx="1522880" cy="254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5"/>
              </a:lnSpc>
            </a:pPr>
            <a:r>
              <a:rPr lang="en-US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Page</a:t>
            </a:r>
            <a:r>
              <a:rPr lang="en-US" sz="1866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 005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8FC0060D-0C22-CD33-7A47-9423F1337365}"/>
              </a:ext>
            </a:extLst>
          </p:cNvPr>
          <p:cNvSpPr txBox="1"/>
          <p:nvPr/>
        </p:nvSpPr>
        <p:spPr>
          <a:xfrm>
            <a:off x="2650291" y="934721"/>
            <a:ext cx="1636464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 panose="020B0604020202020204" charset="0"/>
                <a:ea typeface="TT Norms"/>
                <a:cs typeface="TT Norms"/>
                <a:sym typeface="TT Norms"/>
              </a:rPr>
              <a:t>Market Overview</a:t>
            </a:r>
          </a:p>
        </p:txBody>
      </p:sp>
      <p:sp>
        <p:nvSpPr>
          <p:cNvPr id="20" name="TextBox 11">
            <a:extLst>
              <a:ext uri="{FF2B5EF4-FFF2-40B4-BE49-F238E27FC236}">
                <a16:creationId xmlns:a16="http://schemas.microsoft.com/office/drawing/2014/main" id="{F79B721A-9468-A055-E9E9-56F7020F577F}"/>
              </a:ext>
            </a:extLst>
          </p:cNvPr>
          <p:cNvSpPr txBox="1"/>
          <p:nvPr/>
        </p:nvSpPr>
        <p:spPr>
          <a:xfrm>
            <a:off x="4603428" y="934721"/>
            <a:ext cx="2406972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Neighborhood Deep Dive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1C729312-1EB4-C892-3FF8-90C0F2B7C5D5}"/>
              </a:ext>
            </a:extLst>
          </p:cNvPr>
          <p:cNvSpPr txBox="1"/>
          <p:nvPr/>
        </p:nvSpPr>
        <p:spPr>
          <a:xfrm>
            <a:off x="7346628" y="934721"/>
            <a:ext cx="13359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Energy Trends</a:t>
            </a: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599825B3-7552-114F-C42F-0DBB27B542F4}"/>
              </a:ext>
            </a:extLst>
          </p:cNvPr>
          <p:cNvSpPr txBox="1"/>
          <p:nvPr/>
        </p:nvSpPr>
        <p:spPr>
          <a:xfrm>
            <a:off x="9018812" y="934721"/>
            <a:ext cx="1597356" cy="225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sz="1600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Premium Listings</a:t>
            </a:r>
          </a:p>
        </p:txBody>
      </p:sp>
      <p:sp>
        <p:nvSpPr>
          <p:cNvPr id="23" name="TextBox 11">
            <a:extLst>
              <a:ext uri="{FF2B5EF4-FFF2-40B4-BE49-F238E27FC236}">
                <a16:creationId xmlns:a16="http://schemas.microsoft.com/office/drawing/2014/main" id="{C037A130-6F50-1430-E3C0-0709D520AAD6}"/>
              </a:ext>
            </a:extLst>
          </p:cNvPr>
          <p:cNvSpPr txBox="1"/>
          <p:nvPr/>
        </p:nvSpPr>
        <p:spPr>
          <a:xfrm>
            <a:off x="10952396" y="934721"/>
            <a:ext cx="2611206" cy="23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51"/>
              </a:lnSpc>
            </a:pPr>
            <a:r>
              <a:rPr lang="en-US" dirty="0">
                <a:solidFill>
                  <a:srgbClr val="FFFFFF"/>
                </a:solidFill>
                <a:latin typeface="TT Norms Bold" panose="020B0604020202020204" charset="0"/>
                <a:ea typeface="TT Norms"/>
                <a:cs typeface="TT Norms"/>
                <a:sym typeface="TT Norms"/>
              </a:rPr>
              <a:t>Smart Investor</a:t>
            </a:r>
          </a:p>
        </p:txBody>
      </p:sp>
      <p:sp>
        <p:nvSpPr>
          <p:cNvPr id="9" name="Freeform 19">
            <a:extLst>
              <a:ext uri="{FF2B5EF4-FFF2-40B4-BE49-F238E27FC236}">
                <a16:creationId xmlns:a16="http://schemas.microsoft.com/office/drawing/2014/main" id="{D1A2AEED-76CD-2FF9-DE4E-B30E92BA9684}"/>
              </a:ext>
            </a:extLst>
          </p:cNvPr>
          <p:cNvSpPr/>
          <p:nvPr/>
        </p:nvSpPr>
        <p:spPr>
          <a:xfrm>
            <a:off x="1964638" y="1704685"/>
            <a:ext cx="14285370" cy="4867444"/>
          </a:xfrm>
          <a:custGeom>
            <a:avLst/>
            <a:gdLst/>
            <a:ahLst/>
            <a:cxnLst/>
            <a:rect l="l" t="t" r="r" b="b"/>
            <a:pathLst>
              <a:path w="1043190" h="774835">
                <a:moveTo>
                  <a:pt x="41047" y="0"/>
                </a:moveTo>
                <a:lnTo>
                  <a:pt x="1002143" y="0"/>
                </a:lnTo>
                <a:cubicBezTo>
                  <a:pt x="1013029" y="0"/>
                  <a:pt x="1023470" y="4325"/>
                  <a:pt x="1031167" y="12022"/>
                </a:cubicBezTo>
                <a:cubicBezTo>
                  <a:pt x="1038865" y="19720"/>
                  <a:pt x="1043190" y="30160"/>
                  <a:pt x="1043190" y="41047"/>
                </a:cubicBezTo>
                <a:lnTo>
                  <a:pt x="1043190" y="733789"/>
                </a:lnTo>
                <a:cubicBezTo>
                  <a:pt x="1043190" y="756458"/>
                  <a:pt x="1024812" y="774835"/>
                  <a:pt x="1002143" y="774835"/>
                </a:cubicBezTo>
                <a:lnTo>
                  <a:pt x="41047" y="774835"/>
                </a:lnTo>
                <a:cubicBezTo>
                  <a:pt x="30160" y="774835"/>
                  <a:pt x="19720" y="770511"/>
                  <a:pt x="12022" y="762813"/>
                </a:cubicBezTo>
                <a:cubicBezTo>
                  <a:pt x="4325" y="755115"/>
                  <a:pt x="0" y="744675"/>
                  <a:pt x="0" y="733789"/>
                </a:cubicBezTo>
                <a:lnTo>
                  <a:pt x="0" y="41047"/>
                </a:lnTo>
                <a:cubicBezTo>
                  <a:pt x="0" y="30160"/>
                  <a:pt x="4325" y="19720"/>
                  <a:pt x="12022" y="12022"/>
                </a:cubicBezTo>
                <a:cubicBezTo>
                  <a:pt x="19720" y="4325"/>
                  <a:pt x="30160" y="0"/>
                  <a:pt x="41047" y="0"/>
                </a:cubicBezTo>
                <a:close/>
              </a:path>
            </a:pathLst>
          </a:custGeom>
          <a:ln w="28575" cap="rnd">
            <a:gradFill>
              <a:gsLst>
                <a:gs pos="0">
                  <a:srgbClr val="FFFFFF">
                    <a:alpha val="100000"/>
                  </a:srgbClr>
                </a:gs>
                <a:gs pos="100000">
                  <a:srgbClr val="6CB0C3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C91A7E-FBCF-35E2-6096-B270D9F35965}"/>
              </a:ext>
            </a:extLst>
          </p:cNvPr>
          <p:cNvSpPr txBox="1"/>
          <p:nvPr/>
        </p:nvSpPr>
        <p:spPr>
          <a:xfrm>
            <a:off x="2171700" y="4426684"/>
            <a:ext cx="13944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err="1">
                <a:solidFill>
                  <a:schemeClr val="bg1"/>
                </a:solidFill>
              </a:rPr>
              <a:t>Gyzi</a:t>
            </a:r>
            <a:r>
              <a:rPr lang="en-GB" sz="2000" b="1" dirty="0">
                <a:solidFill>
                  <a:schemeClr val="bg1"/>
                </a:solidFill>
              </a:rPr>
              <a:t> Case Study</a:t>
            </a:r>
            <a:r>
              <a:rPr lang="en-GB" sz="2000" dirty="0">
                <a:solidFill>
                  <a:schemeClr val="bg1"/>
                </a:solidFill>
              </a:rPr>
              <a:t>:</a:t>
            </a:r>
          </a:p>
          <a:p>
            <a:r>
              <a:rPr lang="en-GB" sz="2000" dirty="0">
                <a:solidFill>
                  <a:schemeClr val="bg1"/>
                </a:solidFill>
              </a:rPr>
              <a:t>In </a:t>
            </a:r>
            <a:r>
              <a:rPr lang="en-GB" sz="2000" dirty="0" err="1">
                <a:solidFill>
                  <a:schemeClr val="bg1"/>
                </a:solidFill>
              </a:rPr>
              <a:t>Gyzi</a:t>
            </a:r>
            <a:r>
              <a:rPr lang="en-GB" sz="2000" dirty="0">
                <a:solidFill>
                  <a:schemeClr val="bg1"/>
                </a:solidFill>
              </a:rPr>
              <a:t>, </a:t>
            </a:r>
            <a:r>
              <a:rPr lang="en-GB" sz="2000" b="1" dirty="0">
                <a:solidFill>
                  <a:schemeClr val="bg1"/>
                </a:solidFill>
              </a:rPr>
              <a:t>Property ID 1006</a:t>
            </a:r>
            <a:r>
              <a:rPr lang="en-GB" sz="2000" dirty="0">
                <a:solidFill>
                  <a:schemeClr val="bg1"/>
                </a:solidFill>
              </a:rPr>
              <a:t> demonstrates how the model identifies premium value where standard filters miss it. It secures a dominant </a:t>
            </a:r>
            <a:r>
              <a:rPr lang="en-GB" sz="2000" b="1" dirty="0">
                <a:solidFill>
                  <a:schemeClr val="bg1"/>
                </a:solidFill>
              </a:rPr>
              <a:t>MHI of 83.00</a:t>
            </a:r>
            <a:r>
              <a:rPr lang="en-GB" sz="2000" dirty="0">
                <a:solidFill>
                  <a:schemeClr val="bg1"/>
                </a:solidFill>
              </a:rPr>
              <a:t> alongside a highly lucrative </a:t>
            </a:r>
            <a:r>
              <a:rPr lang="en-GB" sz="2000" b="1" dirty="0">
                <a:solidFill>
                  <a:schemeClr val="bg1"/>
                </a:solidFill>
              </a:rPr>
              <a:t>48.94% Discount Score</a:t>
            </a:r>
            <a:r>
              <a:rPr lang="en-GB" sz="2000" dirty="0">
                <a:solidFill>
                  <a:schemeClr val="bg1"/>
                </a:solidFill>
              </a:rPr>
              <a:t>. While its nominal price per square meter (€2,526.32) is higher than its tabular </a:t>
            </a:r>
            <a:r>
              <a:rPr lang="en-GB" sz="2000" dirty="0" err="1">
                <a:solidFill>
                  <a:schemeClr val="bg1"/>
                </a:solidFill>
              </a:rPr>
              <a:t>neighbors</a:t>
            </a:r>
            <a:r>
              <a:rPr lang="en-GB" sz="2000" dirty="0">
                <a:solidFill>
                  <a:schemeClr val="bg1"/>
                </a:solidFill>
              </a:rPr>
              <a:t>, the underlying logic recognizes that its physical infrastructure—boasting a top-tier </a:t>
            </a:r>
            <a:r>
              <a:rPr lang="en-GB" sz="2000" b="1" dirty="0">
                <a:solidFill>
                  <a:schemeClr val="bg1"/>
                </a:solidFill>
              </a:rPr>
              <a:t>B+ Energy Class</a:t>
            </a:r>
            <a:r>
              <a:rPr lang="en-GB" sz="2000" dirty="0">
                <a:solidFill>
                  <a:schemeClr val="bg1"/>
                </a:solidFill>
              </a:rPr>
              <a:t> and a desirable </a:t>
            </a:r>
            <a:r>
              <a:rPr lang="en-GB" sz="2000" b="1" dirty="0">
                <a:solidFill>
                  <a:schemeClr val="bg1"/>
                </a:solidFill>
              </a:rPr>
              <a:t>6th-floor position</a:t>
            </a:r>
            <a:r>
              <a:rPr lang="en-GB" sz="2000" dirty="0">
                <a:solidFill>
                  <a:schemeClr val="bg1"/>
                </a:solidFill>
              </a:rPr>
              <a:t>—heavily outclasses the local market, isolating an exceptional margin for capital appreciation.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1C7709-25EE-7D09-A006-A991E9175669}"/>
              </a:ext>
            </a:extLst>
          </p:cNvPr>
          <p:cNvSpPr txBox="1"/>
          <p:nvPr/>
        </p:nvSpPr>
        <p:spPr>
          <a:xfrm>
            <a:off x="2171700" y="2115413"/>
            <a:ext cx="13944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err="1">
                <a:solidFill>
                  <a:schemeClr val="bg1"/>
                </a:solidFill>
              </a:rPr>
              <a:t>Kypseli</a:t>
            </a:r>
            <a:r>
              <a:rPr lang="en-GB" sz="2000" b="1" dirty="0">
                <a:solidFill>
                  <a:schemeClr val="bg1"/>
                </a:solidFill>
              </a:rPr>
              <a:t> Case Study</a:t>
            </a:r>
            <a:r>
              <a:rPr lang="en-GB" sz="2000" dirty="0">
                <a:solidFill>
                  <a:schemeClr val="bg1"/>
                </a:solidFill>
              </a:rPr>
              <a:t>:</a:t>
            </a:r>
          </a:p>
          <a:p>
            <a:r>
              <a:rPr lang="en-GB" sz="2000" dirty="0">
                <a:solidFill>
                  <a:schemeClr val="bg1"/>
                </a:solidFill>
              </a:rPr>
              <a:t>The framework perfectly isolates an elite opportunity in </a:t>
            </a:r>
            <a:r>
              <a:rPr lang="en-GB" sz="2000" dirty="0" err="1">
                <a:solidFill>
                  <a:schemeClr val="bg1"/>
                </a:solidFill>
              </a:rPr>
              <a:t>Kypseli</a:t>
            </a:r>
            <a:r>
              <a:rPr lang="en-GB" sz="2000" dirty="0">
                <a:solidFill>
                  <a:schemeClr val="bg1"/>
                </a:solidFill>
              </a:rPr>
              <a:t> with </a:t>
            </a:r>
            <a:r>
              <a:rPr lang="en-GB" sz="2000" b="1" dirty="0">
                <a:solidFill>
                  <a:schemeClr val="bg1"/>
                </a:solidFill>
              </a:rPr>
              <a:t>Property ID 3020</a:t>
            </a:r>
            <a:r>
              <a:rPr lang="en-GB" sz="2000" dirty="0">
                <a:solidFill>
                  <a:schemeClr val="bg1"/>
                </a:solidFill>
              </a:rPr>
              <a:t>. While </a:t>
            </a:r>
            <a:r>
              <a:rPr lang="en-GB" sz="2000" dirty="0" err="1">
                <a:solidFill>
                  <a:schemeClr val="bg1"/>
                </a:solidFill>
              </a:rPr>
              <a:t>neighboring</a:t>
            </a:r>
            <a:r>
              <a:rPr lang="en-GB" sz="2000" dirty="0">
                <a:solidFill>
                  <a:schemeClr val="bg1"/>
                </a:solidFill>
              </a:rPr>
              <a:t> listings boast high Discount Scores but low asset features, this listing breaks the </a:t>
            </a:r>
            <a:r>
              <a:rPr lang="en-GB" sz="2000" dirty="0" err="1">
                <a:solidFill>
                  <a:schemeClr val="bg1"/>
                </a:solidFill>
              </a:rPr>
              <a:t>mold</a:t>
            </a:r>
            <a:r>
              <a:rPr lang="en-GB" sz="2000" dirty="0">
                <a:solidFill>
                  <a:schemeClr val="bg1"/>
                </a:solidFill>
              </a:rPr>
              <a:t> by maintaining a massive </a:t>
            </a:r>
            <a:r>
              <a:rPr lang="en-GB" sz="2000" b="1" dirty="0">
                <a:solidFill>
                  <a:schemeClr val="bg1"/>
                </a:solidFill>
              </a:rPr>
              <a:t>62.10% Discount Score</a:t>
            </a:r>
            <a:r>
              <a:rPr lang="en-GB" sz="2000" dirty="0">
                <a:solidFill>
                  <a:schemeClr val="bg1"/>
                </a:solidFill>
              </a:rPr>
              <a:t> while achieving an extraordinary </a:t>
            </a:r>
            <a:r>
              <a:rPr lang="en-GB" sz="2000" b="1" dirty="0">
                <a:solidFill>
                  <a:schemeClr val="bg1"/>
                </a:solidFill>
              </a:rPr>
              <a:t>Market Heat Index of 106.00</a:t>
            </a:r>
            <a:r>
              <a:rPr lang="en-GB" sz="2000" dirty="0">
                <a:solidFill>
                  <a:schemeClr val="bg1"/>
                </a:solidFill>
              </a:rPr>
              <a:t>. The algorithm flags this property because it couples aggressive </a:t>
            </a:r>
            <a:r>
              <a:rPr lang="en-GB" sz="2000" dirty="0" err="1">
                <a:solidFill>
                  <a:schemeClr val="bg1"/>
                </a:solidFill>
              </a:rPr>
              <a:t>underpricing</a:t>
            </a:r>
            <a:r>
              <a:rPr lang="en-GB" sz="2000" dirty="0">
                <a:solidFill>
                  <a:schemeClr val="bg1"/>
                </a:solidFill>
              </a:rPr>
              <a:t> with uncompromised, future-proof asset premiums: an elite </a:t>
            </a:r>
            <a:r>
              <a:rPr lang="en-GB" sz="2000" b="1" dirty="0">
                <a:solidFill>
                  <a:schemeClr val="bg1"/>
                </a:solidFill>
              </a:rPr>
              <a:t>B+ Energy Class</a:t>
            </a:r>
            <a:r>
              <a:rPr lang="en-GB" sz="2000" dirty="0">
                <a:solidFill>
                  <a:schemeClr val="bg1"/>
                </a:solidFill>
              </a:rPr>
              <a:t>, rare </a:t>
            </a:r>
            <a:r>
              <a:rPr lang="en-GB" sz="2000" b="1" dirty="0">
                <a:solidFill>
                  <a:schemeClr val="bg1"/>
                </a:solidFill>
              </a:rPr>
              <a:t>10th-floor elevation</a:t>
            </a:r>
            <a:r>
              <a:rPr lang="en-GB" sz="2000" dirty="0">
                <a:solidFill>
                  <a:schemeClr val="bg1"/>
                </a:solidFill>
              </a:rPr>
              <a:t>, and a fully renovated turnkey status.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C7C0449-5B52-B2E0-24A9-F3B0184099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406" y="6650038"/>
            <a:ext cx="14327599" cy="30674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EA4983D-CB39-0940-0CE9-8B0151F5A9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407" y="6640512"/>
            <a:ext cx="14327599" cy="3077004"/>
          </a:xfrm>
          <a:prstGeom prst="rect">
            <a:avLst/>
          </a:prstGeom>
        </p:spPr>
      </p:pic>
      <p:sp>
        <p:nvSpPr>
          <p:cNvPr id="27" name="Freeform 3">
            <a:extLst>
              <a:ext uri="{FF2B5EF4-FFF2-40B4-BE49-F238E27FC236}">
                <a16:creationId xmlns:a16="http://schemas.microsoft.com/office/drawing/2014/main" id="{6A97E7F0-DA84-7275-0340-A5445079FB68}"/>
              </a:ext>
            </a:extLst>
          </p:cNvPr>
          <p:cNvSpPr/>
          <p:nvPr/>
        </p:nvSpPr>
        <p:spPr>
          <a:xfrm rot="10800000">
            <a:off x="13421138" y="854784"/>
            <a:ext cx="637065" cy="364865"/>
          </a:xfrm>
          <a:custGeom>
            <a:avLst/>
            <a:gdLst/>
            <a:ahLst/>
            <a:cxnLst/>
            <a:rect l="l" t="t" r="r" b="b"/>
            <a:pathLst>
              <a:path w="637065" h="364865">
                <a:moveTo>
                  <a:pt x="0" y="0"/>
                </a:moveTo>
                <a:lnTo>
                  <a:pt x="637065" y="0"/>
                </a:lnTo>
                <a:lnTo>
                  <a:pt x="637065" y="364864"/>
                </a:lnTo>
                <a:lnTo>
                  <a:pt x="0" y="3648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82176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8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675"/>
                            </p:stCondLst>
                            <p:childTnLst>
                              <p:par>
                                <p:cTn id="16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8" accel="8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" presetClass="entr" presetSubtype="2" decel="8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30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Clr clrSpc="hsl" dir="cw">
                                      <p:cBhvr override="childStyl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" presetClass="exit" presetSubtype="8" accel="8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12" grpId="0"/>
      <p:bldP spid="12" grpId="1"/>
      <p:bldP spid="12" grpId="2"/>
      <p:bldP spid="12" grpId="3"/>
      <p:bldP spid="13" grpId="0"/>
      <p:bldP spid="13" grpId="1"/>
      <p:bldP spid="13" grpId="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53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400182" y="5992056"/>
            <a:ext cx="20461501" cy="7477748"/>
          </a:xfrm>
          <a:custGeom>
            <a:avLst/>
            <a:gdLst/>
            <a:ahLst/>
            <a:cxnLst/>
            <a:rect l="l" t="t" r="r" b="b"/>
            <a:pathLst>
              <a:path w="20461501" h="7477748">
                <a:moveTo>
                  <a:pt x="20461500" y="0"/>
                </a:moveTo>
                <a:lnTo>
                  <a:pt x="0" y="0"/>
                </a:lnTo>
                <a:lnTo>
                  <a:pt x="0" y="7477748"/>
                </a:lnTo>
                <a:lnTo>
                  <a:pt x="20461500" y="7477748"/>
                </a:lnTo>
                <a:lnTo>
                  <a:pt x="2046150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8628694" y="1212844"/>
            <a:ext cx="9494808" cy="8518085"/>
          </a:xfrm>
          <a:custGeom>
            <a:avLst/>
            <a:gdLst/>
            <a:ahLst/>
            <a:cxnLst/>
            <a:rect l="l" t="t" r="r" b="b"/>
            <a:pathLst>
              <a:path w="9494808" h="8518085">
                <a:moveTo>
                  <a:pt x="0" y="0"/>
                </a:moveTo>
                <a:lnTo>
                  <a:pt x="9494809" y="0"/>
                </a:lnTo>
                <a:lnTo>
                  <a:pt x="9494809" y="8518086"/>
                </a:lnTo>
                <a:lnTo>
                  <a:pt x="0" y="85180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9144000" y="2967203"/>
            <a:ext cx="4705927" cy="2626763"/>
          </a:xfrm>
          <a:custGeom>
            <a:avLst/>
            <a:gdLst/>
            <a:ahLst/>
            <a:cxnLst/>
            <a:rect l="l" t="t" r="r" b="b"/>
            <a:pathLst>
              <a:path w="4705927" h="2626763">
                <a:moveTo>
                  <a:pt x="0" y="0"/>
                </a:moveTo>
                <a:lnTo>
                  <a:pt x="4705927" y="0"/>
                </a:lnTo>
                <a:lnTo>
                  <a:pt x="4705927" y="2626763"/>
                </a:lnTo>
                <a:lnTo>
                  <a:pt x="0" y="26267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1776416" y="4051170"/>
            <a:ext cx="5778547" cy="1542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50"/>
              </a:lnSpc>
            </a:pPr>
            <a:r>
              <a:rPr lang="en-US" sz="11436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Thank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52420" y="4051170"/>
            <a:ext cx="3707213" cy="1542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50"/>
              </a:lnSpc>
            </a:pPr>
            <a:r>
              <a:rPr lang="en-US" sz="11436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You!</a:t>
            </a:r>
          </a:p>
        </p:txBody>
      </p:sp>
      <p:sp>
        <p:nvSpPr>
          <p:cNvPr id="14" name="Freeform 14"/>
          <p:cNvSpPr/>
          <p:nvPr/>
        </p:nvSpPr>
        <p:spPr>
          <a:xfrm>
            <a:off x="1905568" y="7611310"/>
            <a:ext cx="5520243" cy="562061"/>
          </a:xfrm>
          <a:custGeom>
            <a:avLst/>
            <a:gdLst/>
            <a:ahLst/>
            <a:cxnLst/>
            <a:rect l="l" t="t" r="r" b="b"/>
            <a:pathLst>
              <a:path w="5520243" h="562061">
                <a:moveTo>
                  <a:pt x="0" y="0"/>
                </a:moveTo>
                <a:lnTo>
                  <a:pt x="5520243" y="0"/>
                </a:lnTo>
                <a:lnTo>
                  <a:pt x="5520243" y="562062"/>
                </a:lnTo>
                <a:lnTo>
                  <a:pt x="0" y="5620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5" name="TextBox 15"/>
          <p:cNvSpPr txBox="1"/>
          <p:nvPr/>
        </p:nvSpPr>
        <p:spPr>
          <a:xfrm>
            <a:off x="2676117" y="7788195"/>
            <a:ext cx="3496083" cy="2544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885"/>
              </a:lnSpc>
            </a:pPr>
            <a:r>
              <a:rPr lang="en-US" sz="1866" b="1" dirty="0">
                <a:solidFill>
                  <a:srgbClr val="1F5353"/>
                </a:solidFill>
                <a:latin typeface="TT Norms Bold"/>
                <a:ea typeface="TT Norms Bold"/>
                <a:cs typeface="TT Norms Bold"/>
                <a:sym typeface="TT Norms Bold"/>
              </a:rPr>
              <a:t>www.github.com/markosgkikas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05568" y="5746985"/>
            <a:ext cx="631714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</a:rPr>
              <a:t>Transitioning real estate from speculative guesswork to predictable alpha. I look forward to your feedback and thoughts on these market insights.</a:t>
            </a:r>
            <a:endParaRPr lang="en-US" sz="1866" dirty="0">
              <a:solidFill>
                <a:schemeClr val="bg1"/>
              </a:solidFill>
              <a:latin typeface="TT Norms"/>
              <a:ea typeface="TT Norms"/>
              <a:cs typeface="TT Norms"/>
              <a:sym typeface="TT Norm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1838BF5-2320-C8C1-8F00-960C1EFF746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9808" y="3108960"/>
            <a:ext cx="533400" cy="5334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2001</TotalTime>
  <Words>2169</Words>
  <Application>Microsoft Office PowerPoint</Application>
  <PresentationFormat>Custom</PresentationFormat>
  <Paragraphs>196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TT Norms Bold</vt:lpstr>
      <vt:lpstr>Calibri</vt:lpstr>
      <vt:lpstr>TT Norms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Blue Modern Stock Market Presentation</dc:title>
  <dc:creator>Markos Gkikas</dc:creator>
  <cp:lastModifiedBy>ΖΕΚΑ ΧΡΙΣΤΙΝΑ</cp:lastModifiedBy>
  <cp:revision>18</cp:revision>
  <dcterms:created xsi:type="dcterms:W3CDTF">2006-08-16T00:00:00Z</dcterms:created>
  <dcterms:modified xsi:type="dcterms:W3CDTF">2026-05-26T09:47:20Z</dcterms:modified>
  <dc:identifier>DAHKem6eHVM</dc:identifier>
</cp:coreProperties>
</file>